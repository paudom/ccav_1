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lac" ContentType="audio/unknown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72" r:id="rId7"/>
    <p:sldId id="266" r:id="rId8"/>
    <p:sldId id="264" r:id="rId9"/>
    <p:sldId id="271" r:id="rId10"/>
    <p:sldId id="273" r:id="rId11"/>
    <p:sldId id="274" r:id="rId12"/>
    <p:sldId id="267" r:id="rId13"/>
    <p:sldId id="260" r:id="rId14"/>
    <p:sldId id="268" r:id="rId15"/>
    <p:sldId id="269" r:id="rId16"/>
    <p:sldId id="261" r:id="rId17"/>
    <p:sldId id="270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ria\Documents\UNIVERSITAT\4A\CCAV\PROJ1\CCAV_1\tau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2800" dirty="0"/>
              <a:t>Compression ratio / Predictor</a:t>
            </a:r>
            <a:r>
              <a:rPr lang="en-GB" sz="2800" baseline="0" dirty="0"/>
              <a:t> order</a:t>
            </a:r>
            <a:endParaRPr lang="en-GB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a-E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Sheet2!$D$3</c:f>
              <c:strCache>
                <c:ptCount val="1"/>
                <c:pt idx="0">
                  <c:v>Classical</c:v>
                </c:pt>
              </c:strCache>
            </c:strRef>
          </c:tx>
          <c:spPr>
            <a:ln w="38100" cap="rnd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Sheet2!$D$4:$D$8</c:f>
              <c:numCache>
                <c:formatCode>General</c:formatCode>
                <c:ptCount val="5"/>
                <c:pt idx="0">
                  <c:v>52.74</c:v>
                </c:pt>
                <c:pt idx="1">
                  <c:v>48.8</c:v>
                </c:pt>
                <c:pt idx="2">
                  <c:v>47.09</c:v>
                </c:pt>
                <c:pt idx="3">
                  <c:v>47.19</c:v>
                </c:pt>
                <c:pt idx="4">
                  <c:v>47.33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AEF-450C-8290-928BAB006783}"/>
            </c:ext>
          </c:extLst>
        </c:ser>
        <c:ser>
          <c:idx val="1"/>
          <c:order val="1"/>
          <c:tx>
            <c:strRef>
              <c:f>Sheet2!$E$3</c:f>
              <c:strCache>
                <c:ptCount val="1"/>
                <c:pt idx="0">
                  <c:v>Pop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Sheet2!$E$4:$E$8</c:f>
              <c:numCache>
                <c:formatCode>General</c:formatCode>
                <c:ptCount val="5"/>
                <c:pt idx="0">
                  <c:v>77.430000000000007</c:v>
                </c:pt>
                <c:pt idx="1">
                  <c:v>73.290000000000006</c:v>
                </c:pt>
                <c:pt idx="2">
                  <c:v>73.08</c:v>
                </c:pt>
                <c:pt idx="3">
                  <c:v>73.13</c:v>
                </c:pt>
                <c:pt idx="4">
                  <c:v>73.22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EF-450C-8290-928BAB006783}"/>
            </c:ext>
          </c:extLst>
        </c:ser>
        <c:ser>
          <c:idx val="2"/>
          <c:order val="2"/>
          <c:tx>
            <c:strRef>
              <c:f>Sheet2!$F$3</c:f>
              <c:strCache>
                <c:ptCount val="1"/>
                <c:pt idx="0">
                  <c:v>Punk</c:v>
                </c:pt>
              </c:strCache>
            </c:strRef>
          </c:tx>
          <c:spPr>
            <a:ln w="38100" cap="rnd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Sheet2!$F$4:$F$8</c:f>
              <c:numCache>
                <c:formatCode>General</c:formatCode>
                <c:ptCount val="5"/>
                <c:pt idx="0">
                  <c:v>79.349999999999994</c:v>
                </c:pt>
                <c:pt idx="1">
                  <c:v>76.989999999999995</c:v>
                </c:pt>
                <c:pt idx="2">
                  <c:v>76.760000000000005</c:v>
                </c:pt>
                <c:pt idx="3">
                  <c:v>76.86</c:v>
                </c:pt>
                <c:pt idx="4">
                  <c:v>76.91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AEF-450C-8290-928BAB006783}"/>
            </c:ext>
          </c:extLst>
        </c:ser>
        <c:ser>
          <c:idx val="3"/>
          <c:order val="3"/>
          <c:tx>
            <c:strRef>
              <c:f>Sheet2!$G$3</c:f>
              <c:strCache>
                <c:ptCount val="1"/>
                <c:pt idx="0">
                  <c:v>Soul</c:v>
                </c:pt>
              </c:strCache>
            </c:strRef>
          </c:tx>
          <c:spPr>
            <a:ln w="381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Sheet2!$G$4:$G$8</c:f>
              <c:numCache>
                <c:formatCode>General</c:formatCode>
                <c:ptCount val="5"/>
                <c:pt idx="0">
                  <c:v>68.489999999999995</c:v>
                </c:pt>
                <c:pt idx="1">
                  <c:v>67.69</c:v>
                </c:pt>
                <c:pt idx="2">
                  <c:v>66.59</c:v>
                </c:pt>
                <c:pt idx="3">
                  <c:v>66.180000000000007</c:v>
                </c:pt>
                <c:pt idx="4">
                  <c:v>66.180000000000007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AEF-450C-8290-928BAB006783}"/>
            </c:ext>
          </c:extLst>
        </c:ser>
        <c:ser>
          <c:idx val="4"/>
          <c:order val="4"/>
          <c:tx>
            <c:strRef>
              <c:f>Sheet2!$H$3</c:f>
              <c:strCache>
                <c:ptCount val="1"/>
                <c:pt idx="0">
                  <c:v>Reggae</c:v>
                </c:pt>
              </c:strCache>
            </c:strRef>
          </c:tx>
          <c:spPr>
            <a:ln w="38100" cap="rnd">
              <a:solidFill>
                <a:schemeClr val="accent5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Sheet2!$H$4:$H$8</c:f>
              <c:numCache>
                <c:formatCode>General</c:formatCode>
                <c:ptCount val="5"/>
                <c:pt idx="0">
                  <c:v>65.11</c:v>
                </c:pt>
                <c:pt idx="1">
                  <c:v>63.72</c:v>
                </c:pt>
                <c:pt idx="2">
                  <c:v>63.02</c:v>
                </c:pt>
                <c:pt idx="3">
                  <c:v>62.72</c:v>
                </c:pt>
                <c:pt idx="4">
                  <c:v>62.61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AEF-450C-8290-928BAB0067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382824"/>
        <c:axId val="556382168"/>
      </c:scatterChart>
      <c:valAx>
        <c:axId val="556382824"/>
        <c:scaling>
          <c:orientation val="minMax"/>
          <c:max val="1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Predictor</a:t>
                </a:r>
                <a:r>
                  <a:rPr lang="en-US" sz="1800" baseline="0" dirty="0"/>
                  <a:t> Order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a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a-ES"/>
          </a:p>
        </c:txPr>
        <c:crossAx val="556382168"/>
        <c:crosses val="autoZero"/>
        <c:crossBetween val="midCat"/>
      </c:valAx>
      <c:valAx>
        <c:axId val="556382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GB" sz="1800" b="0" i="0" u="none" strike="noStrike" kern="1200" baseline="0" noProof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800" noProof="0" dirty="0"/>
                  <a:t>Compression Ratio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GB" sz="1800" b="0" i="0" u="none" strike="noStrike" kern="12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a-E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a-ES"/>
          </a:p>
        </c:txPr>
        <c:crossAx val="5563828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a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ca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2.flac"/><Relationship Id="rId7" Type="http://schemas.openxmlformats.org/officeDocument/2006/relationships/image" Target="../media/image18.png"/><Relationship Id="rId2" Type="http://schemas.openxmlformats.org/officeDocument/2006/relationships/audio" Target="../media/media1.flac"/><Relationship Id="rId1" Type="http://schemas.microsoft.com/office/2007/relationships/media" Target="../media/media1.flac"/><Relationship Id="rId6" Type="http://schemas.openxmlformats.org/officeDocument/2006/relationships/image" Target="../media/image17.emf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flac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98FD-4E2E-42E9-A91E-ECEE69CDE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/>
          <a:lstStyle/>
          <a:p>
            <a:r>
              <a:rPr lang="ca-ES" dirty="0"/>
              <a:t>MPEG 4-LosSless </a:t>
            </a:r>
            <a:r>
              <a:rPr lang="en-GB" dirty="0"/>
              <a:t>audio</a:t>
            </a:r>
            <a:r>
              <a:rPr lang="ca-ES" dirty="0"/>
              <a:t> </a:t>
            </a:r>
            <a:r>
              <a:rPr lang="en-GB" dirty="0"/>
              <a:t>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F37AA-8A41-466C-98ED-D5F8A0EA2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a-ES" dirty="0"/>
              <a:t>Pablo Domingo</a:t>
            </a:r>
          </a:p>
          <a:p>
            <a:r>
              <a:rPr lang="ca-ES" dirty="0"/>
              <a:t>Maria Gibert</a:t>
            </a:r>
          </a:p>
          <a:p>
            <a:r>
              <a:rPr lang="ca-ES" dirty="0"/>
              <a:t>CCAV – P18</a:t>
            </a:r>
          </a:p>
        </p:txBody>
      </p:sp>
    </p:spTree>
    <p:extLst>
      <p:ext uri="{BB962C8B-B14F-4D97-AF65-F5344CB8AC3E}">
        <p14:creationId xmlns:p14="http://schemas.microsoft.com/office/powerpoint/2010/main" val="341736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F58A-8C3B-46CF-B13F-AC66D803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1F32C-04DF-420A-8A8F-0876F7FC9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GB" sz="2400" dirty="0"/>
              <a:t>Introduction</a:t>
            </a:r>
          </a:p>
          <a:p>
            <a:pPr lvl="1"/>
            <a:r>
              <a:rPr lang="en-GB" sz="2400" dirty="0"/>
              <a:t>Encoder</a:t>
            </a:r>
          </a:p>
          <a:p>
            <a:pPr lvl="2"/>
            <a:r>
              <a:rPr lang="en-GB" sz="1800" dirty="0"/>
              <a:t>Parcor Values</a:t>
            </a:r>
          </a:p>
          <a:p>
            <a:pPr lvl="2"/>
            <a:r>
              <a:rPr lang="en-GB" sz="1800" dirty="0"/>
              <a:t>Zero-pole unit circle diagram</a:t>
            </a:r>
          </a:p>
          <a:p>
            <a:pPr lvl="2"/>
            <a:r>
              <a:rPr lang="en-GB" sz="1800" dirty="0"/>
              <a:t>Quantify + </a:t>
            </a:r>
            <a:r>
              <a:rPr lang="en-GB" sz="1800" dirty="0" err="1"/>
              <a:t>Dequantify</a:t>
            </a:r>
            <a:endParaRPr lang="en-GB" sz="1800" dirty="0"/>
          </a:p>
          <a:p>
            <a:pPr lvl="2"/>
            <a:r>
              <a:rPr lang="en-GB" sz="1800" dirty="0"/>
              <a:t>Parcor to LPC + Predictor </a:t>
            </a:r>
          </a:p>
          <a:p>
            <a:pPr lvl="2"/>
            <a:r>
              <a:rPr lang="en-GB" sz="1800" dirty="0"/>
              <a:t>Predicted waveform order 2, 8 and 12</a:t>
            </a:r>
          </a:p>
          <a:p>
            <a:pPr lvl="2"/>
            <a:r>
              <a:rPr lang="en-GB" sz="1800" dirty="0"/>
              <a:t>Golomb Rice Coding</a:t>
            </a:r>
          </a:p>
          <a:p>
            <a:pPr lvl="1"/>
            <a:r>
              <a:rPr lang="en-GB" sz="2400" dirty="0"/>
              <a:t>Decoder</a:t>
            </a:r>
          </a:p>
          <a:p>
            <a:pPr lvl="2"/>
            <a:r>
              <a:rPr lang="en-GB" sz="1800" dirty="0"/>
              <a:t>Golomb Rice Decoder</a:t>
            </a:r>
          </a:p>
          <a:p>
            <a:pPr lvl="2"/>
            <a:r>
              <a:rPr lang="en-GB" sz="1800" dirty="0"/>
              <a:t>Predictor</a:t>
            </a:r>
            <a:endParaRPr lang="en-GB" sz="2400" dirty="0"/>
          </a:p>
          <a:p>
            <a:pPr lvl="1"/>
            <a:r>
              <a:rPr lang="en-GB" sz="2400" dirty="0"/>
              <a:t>Results</a:t>
            </a:r>
          </a:p>
          <a:p>
            <a:pPr lvl="2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8164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5BCB-8C28-431F-8751-12A46415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7F161-C12E-48B9-9B1D-4DF85E91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64" y="2249423"/>
            <a:ext cx="10667999" cy="4217637"/>
          </a:xfrm>
        </p:spPr>
        <p:txBody>
          <a:bodyPr>
            <a:normAutofit/>
          </a:bodyPr>
          <a:lstStyle/>
          <a:p>
            <a:pPr marL="128016" lvl="1" indent="0">
              <a:buNone/>
            </a:pPr>
            <a:r>
              <a:rPr lang="en-GB" sz="2800" dirty="0"/>
              <a:t>MPEG-4 ALS: an Emerging Standard for Lossless Audio Coding by Tilman </a:t>
            </a:r>
            <a:r>
              <a:rPr lang="en-GB" sz="2800" dirty="0" err="1"/>
              <a:t>Liebchen</a:t>
            </a:r>
            <a:r>
              <a:rPr lang="en-GB" sz="2800" dirty="0"/>
              <a:t> and </a:t>
            </a:r>
            <a:r>
              <a:rPr lang="en-GB" sz="2800" dirty="0" err="1"/>
              <a:t>Yuriy</a:t>
            </a:r>
            <a:r>
              <a:rPr lang="en-GB" sz="2800" dirty="0"/>
              <a:t> A. Reznik.</a:t>
            </a:r>
          </a:p>
          <a:p>
            <a:pPr lvl="1"/>
            <a:r>
              <a:rPr lang="en-GB" sz="2400" dirty="0"/>
              <a:t>Many applications in recording and distribution of audio → Studio operations, collaborative work or music distribution over the Internet, etc.</a:t>
            </a:r>
          </a:p>
          <a:p>
            <a:pPr lvl="1"/>
            <a:r>
              <a:rPr lang="en-GB" sz="2400" dirty="0"/>
              <a:t>Standard introduced in March 2003 </a:t>
            </a:r>
            <a:endParaRPr lang="ca-ES" sz="2000" dirty="0"/>
          </a:p>
          <a:p>
            <a:pPr marL="310896" lvl="2" indent="0">
              <a:buNone/>
            </a:pPr>
            <a:endParaRPr lang="ca-ES" sz="2000" b="1" dirty="0"/>
          </a:p>
          <a:p>
            <a:pPr marL="310896" lvl="2" indent="0">
              <a:buNone/>
            </a:pPr>
            <a:r>
              <a:rPr lang="ca-ES" sz="2000" b="1" dirty="0"/>
              <a:t>Objectives: </a:t>
            </a:r>
          </a:p>
          <a:p>
            <a:pPr lvl="3"/>
            <a:r>
              <a:rPr lang="en-GB" sz="2000" dirty="0"/>
              <a:t>Provide lossless reconstruction of PCM audio signals at different sampling rates and word lengths</a:t>
            </a:r>
            <a:endParaRPr lang="en-GB" sz="2000" dirty="0">
              <a:solidFill>
                <a:schemeClr val="accent2">
                  <a:lumMod val="75000"/>
                </a:schemeClr>
              </a:solidFill>
            </a:endParaRPr>
          </a:p>
          <a:p>
            <a:pPr lvl="3"/>
            <a:r>
              <a:rPr lang="en-GB" sz="2000" dirty="0"/>
              <a:t>Achieve superior compression efficiency to other algorithms</a:t>
            </a:r>
          </a:p>
          <a:p>
            <a:pPr lvl="3"/>
            <a:r>
              <a:rPr lang="en-GB" sz="2000" dirty="0"/>
              <a:t>Provide means for editing, manipulation and random access to the compressed audio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3560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B80-78B4-4969-AB92-0359BB9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encoder</a:t>
            </a:r>
            <a:endParaRPr lang="ca-E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6D6E1E-F2BD-4291-8480-666594A54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1711749"/>
            <a:ext cx="10143744" cy="4561036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5305CA-06D9-4D08-A9D5-9BADCA8EFCD2}"/>
              </a:ext>
            </a:extLst>
          </p:cNvPr>
          <p:cNvSpPr/>
          <p:nvPr/>
        </p:nvSpPr>
        <p:spPr>
          <a:xfrm>
            <a:off x="2405792" y="2476670"/>
            <a:ext cx="1152939" cy="73469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0204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750272-9537-425A-9986-119595D6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424" y="3673219"/>
            <a:ext cx="4843085" cy="30658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FE9B80-78B4-4969-AB92-0359BB9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Parcor values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6D6E1E-F2BD-4291-8480-666594A54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54992" y="351778"/>
            <a:ext cx="3854311" cy="1733053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5305CA-06D9-4D08-A9D5-9BADCA8EFCD2}"/>
              </a:ext>
            </a:extLst>
          </p:cNvPr>
          <p:cNvSpPr/>
          <p:nvPr/>
        </p:nvSpPr>
        <p:spPr>
          <a:xfrm>
            <a:off x="8554453" y="1378226"/>
            <a:ext cx="478452" cy="51683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D7611-59B8-4D6F-8021-4840898BD047}"/>
              </a:ext>
            </a:extLst>
          </p:cNvPr>
          <p:cNvSpPr txBox="1">
            <a:spLocks/>
          </p:cNvSpPr>
          <p:nvPr/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400" dirty="0"/>
              <a:t>Apply</a:t>
            </a:r>
            <a:r>
              <a:rPr lang="ca-ES" sz="2400" dirty="0"/>
              <a:t> Hamming </a:t>
            </a:r>
            <a:r>
              <a:rPr lang="en-GB" sz="2400" dirty="0"/>
              <a:t>window to each frame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Calculate the autocorrelation order p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Levinson – Durbin algorithm to estimate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PARCOR VALUES </a:t>
            </a:r>
            <a:r>
              <a:rPr lang="en-GB" sz="2400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(k)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GB" sz="2400" dirty="0">
                <a:sym typeface="Wingdings" panose="05000000000000000000" pitchFamily="2" charset="2"/>
              </a:rPr>
              <a:t>using windowed frame</a:t>
            </a:r>
          </a:p>
          <a:p>
            <a:pPr lvl="2"/>
            <a:r>
              <a:rPr lang="en-GB" sz="2000" dirty="0">
                <a:sym typeface="Wingdings" panose="05000000000000000000" pitchFamily="2" charset="2"/>
              </a:rPr>
              <a:t>Initialization</a:t>
            </a:r>
          </a:p>
          <a:p>
            <a:pPr marL="310896" lvl="2" indent="0">
              <a:buNone/>
            </a:pPr>
            <a:r>
              <a:rPr lang="en-GB" sz="2000" dirty="0">
                <a:sym typeface="Wingdings" panose="05000000000000000000" pitchFamily="2" charset="2"/>
              </a:rPr>
              <a:t>	R(0) = R(0)*257/256 </a:t>
            </a:r>
            <a:r>
              <a:rPr lang="ca-ES" sz="2000" dirty="0"/>
              <a:t>→</a:t>
            </a:r>
            <a:r>
              <a:rPr lang="en-GB" sz="2000" dirty="0">
                <a:sym typeface="Wingdings" panose="05000000000000000000" pitchFamily="2" charset="2"/>
              </a:rPr>
              <a:t> to stabilize the predicted values</a:t>
            </a:r>
          </a:p>
          <a:p>
            <a:pPr lvl="2"/>
            <a:r>
              <a:rPr lang="en-GB" sz="2000" dirty="0">
                <a:sym typeface="Wingdings" panose="05000000000000000000" pitchFamily="2" charset="2"/>
              </a:rPr>
              <a:t>Iterate</a:t>
            </a:r>
          </a:p>
          <a:p>
            <a:pPr marL="640080" lvl="4" indent="0">
              <a:buNone/>
            </a:pPr>
            <a:r>
              <a:rPr lang="en-GB" sz="1800" dirty="0">
                <a:sym typeface="Wingdings" panose="05000000000000000000" pitchFamily="2" charset="2"/>
              </a:rPr>
              <a:t>	</a:t>
            </a:r>
          </a:p>
          <a:p>
            <a:pPr lvl="2"/>
            <a:endParaRPr lang="en-GB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3956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8840-4381-46B4-9BE5-564ECD40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Zero-pole unit circle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52ED053-520D-4E7F-97B7-61DA8E8EA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6183" r="13540"/>
          <a:stretch/>
        </p:blipFill>
        <p:spPr>
          <a:xfrm>
            <a:off x="1133259" y="1842459"/>
            <a:ext cx="4750905" cy="4022725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6063D4-E272-4A61-8A5F-E69060EEEE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489" t="3479" r="8916" b="4928"/>
          <a:stretch/>
        </p:blipFill>
        <p:spPr>
          <a:xfrm>
            <a:off x="6307836" y="1943787"/>
            <a:ext cx="4750905" cy="3820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F75863-C93E-4A2A-B8F0-726F49A47CC4}"/>
              </a:ext>
            </a:extLst>
          </p:cNvPr>
          <p:cNvSpPr txBox="1"/>
          <p:nvPr/>
        </p:nvSpPr>
        <p:spPr>
          <a:xfrm>
            <a:off x="2197704" y="5922891"/>
            <a:ext cx="262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Non </a:t>
            </a:r>
            <a:r>
              <a:rPr lang="en-GB" dirty="0">
                <a:sym typeface="Wingdings" panose="05000000000000000000" pitchFamily="2" charset="2"/>
              </a:rPr>
              <a:t>stabilized coefficients</a:t>
            </a:r>
            <a:r>
              <a:rPr lang="en-GB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369EAE-F8E1-435F-93E7-7CF9E908FDF1}"/>
              </a:ext>
            </a:extLst>
          </p:cNvPr>
          <p:cNvSpPr txBox="1"/>
          <p:nvPr/>
        </p:nvSpPr>
        <p:spPr>
          <a:xfrm>
            <a:off x="7588111" y="5927077"/>
            <a:ext cx="219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Stabilized coefficients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763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B80-78B4-4969-AB92-0359BB9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QUANTIFY + DEQUANTIFY</a:t>
            </a:r>
            <a:endParaRPr lang="ca-ES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F1D38FC-50D1-4ABA-8C78-329A25E0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92" y="312022"/>
            <a:ext cx="3854311" cy="1733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DA04549-CFFD-4842-87AF-834F6871D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GB" sz="2400" dirty="0"/>
                  <a:t> Mapping using </a:t>
                </a:r>
                <a14:m>
                  <m:oMath xmlns:m="http://schemas.openxmlformats.org/officeDocument/2006/math"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𝑎𝑟𝑐𝑠𝑖𝑛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a-ES" sz="2400" dirty="0"/>
                  <a:t> → </a:t>
                </a:r>
                <a:r>
                  <a:rPr lang="en-GB" sz="2400" dirty="0"/>
                  <a:t>allows us to use uniform quantization</a:t>
                </a:r>
              </a:p>
              <a:p>
                <a:pPr lvl="2"/>
                <a:r>
                  <a:rPr lang="en-GB" sz="2000" dirty="0"/>
                  <a:t>Range </a:t>
                </a:r>
                <a:r>
                  <a:rPr lang="ca-ES" sz="2000" dirty="0"/>
                  <a:t>→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ca-E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ca-E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a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ca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ca-E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a-E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ca-E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sz="2000" dirty="0"/>
              </a:p>
              <a:p>
                <a:pPr lvl="1"/>
                <a:r>
                  <a:rPr lang="en-GB" sz="2400" dirty="0"/>
                  <a:t> Uniform quantifier</a:t>
                </a:r>
              </a:p>
              <a:p>
                <a:pPr lvl="2"/>
                <a:r>
                  <a:rPr lang="ca-ES" sz="2000" dirty="0"/>
                  <a:t>MID-RISER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ca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ca-ES" sz="2000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GB" sz="2000" dirty="0"/>
              </a:p>
              <a:p>
                <a:pPr lvl="1"/>
                <a:r>
                  <a:rPr lang="en-GB" sz="2400" dirty="0"/>
                  <a:t> Send to the multiplexer </a:t>
                </a:r>
                <a:r>
                  <a:rPr lang="ca-ES" sz="2400" dirty="0"/>
                  <a:t>→</a:t>
                </a:r>
                <a:r>
                  <a:rPr lang="en-GB" sz="2400" dirty="0"/>
                  <a:t> fixed-length coding using </a:t>
                </a:r>
                <a14:m>
                  <m:oMath xmlns:m="http://schemas.openxmlformats.org/officeDocument/2006/math">
                    <m:r>
                      <a:rPr lang="ca-E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/>
                  <a:t> bits</a:t>
                </a:r>
              </a:p>
              <a:p>
                <a:pPr lvl="1"/>
                <a:r>
                  <a:rPr lang="en-GB" sz="2400" dirty="0"/>
                  <a:t> Send to Parcor to LPC </a:t>
                </a:r>
                <a:r>
                  <a:rPr lang="ca-ES" sz="2400" dirty="0"/>
                  <a:t>→ </a:t>
                </a:r>
                <a:r>
                  <a:rPr lang="en-GB" sz="2400" dirty="0"/>
                  <a:t>to predict the current frame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DA04549-CFFD-4842-87AF-834F6871D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79AA0F0-0976-4641-9CEE-F318896BAB32}"/>
              </a:ext>
            </a:extLst>
          </p:cNvPr>
          <p:cNvSpPr/>
          <p:nvPr/>
        </p:nvSpPr>
        <p:spPr>
          <a:xfrm>
            <a:off x="9015140" y="1404731"/>
            <a:ext cx="1359569" cy="49033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9721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8841-4CC7-482F-AB3D-233D9497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Parcor to </a:t>
            </a:r>
            <a:r>
              <a:rPr lang="en-GB" dirty="0" err="1"/>
              <a:t>lpc</a:t>
            </a:r>
            <a:r>
              <a:rPr lang="en-GB" dirty="0"/>
              <a:t> + predictor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54C32-E509-409B-B4A7-BD245A7092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800" dirty="0"/>
                  <a:t> To get 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LPC coefficients </a:t>
                </a:r>
                <a:r>
                  <a:rPr lang="en-GB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a-E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a-E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ca-E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800" dirty="0"/>
                  <a:t>)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GB" dirty="0"/>
                  <a:t>→ </a:t>
                </a:r>
                <a:r>
                  <a:rPr lang="en-GB" sz="2800" dirty="0"/>
                  <a:t>Repeat Levinson – Durbin algorithm</a:t>
                </a:r>
              </a:p>
              <a:p>
                <a:pPr lvl="1"/>
                <a:r>
                  <a:rPr lang="en-GB" sz="2800" dirty="0"/>
                  <a:t> 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Predictor</a:t>
                </a:r>
                <a:r>
                  <a:rPr lang="ca-ES" sz="2800" dirty="0"/>
                  <a:t> → </a:t>
                </a:r>
                <a:r>
                  <a:rPr lang="en-GB" sz="2800" dirty="0"/>
                  <a:t>Filters frame using coefficients:</a:t>
                </a:r>
              </a:p>
              <a:p>
                <a:pPr marL="128016" lvl="1" indent="0">
                  <a:buNone/>
                </a:pPr>
                <a:r>
                  <a:rPr lang="en-GB" sz="2800" dirty="0"/>
                  <a:t> </a:t>
                </a:r>
              </a:p>
              <a:p>
                <a:pPr marL="12801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a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lvl="1"/>
                <a:r>
                  <a:rPr lang="en-GB" sz="2800" dirty="0"/>
                  <a:t> 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Residual </a:t>
                </a:r>
                <a:endParaRPr lang="en-GB" dirty="0"/>
              </a:p>
              <a:p>
                <a:pPr marL="128016" lvl="1" indent="0">
                  <a:buNone/>
                </a:pPr>
                <a:endParaRPr lang="en-GB" dirty="0"/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𝑒𝑠𝑖𝑑𝑢𝑎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ca-ES" sz="2800" b="0" dirty="0"/>
              </a:p>
              <a:p>
                <a:pPr marL="128016" lvl="1" indent="0">
                  <a:buNone/>
                </a:pPr>
                <a:endParaRPr lang="ca-E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54C32-E509-409B-B4A7-BD245A709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  <a:blipFill>
                <a:blip r:embed="rId2"/>
                <a:stretch>
                  <a:fillRect l="-288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0225C262-0708-47BE-9AB0-0400CED7F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992" y="351778"/>
            <a:ext cx="3854311" cy="17330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50461C-7FE5-44C4-9180-5E7A35AA1E64}"/>
              </a:ext>
            </a:extLst>
          </p:cNvPr>
          <p:cNvSpPr/>
          <p:nvPr/>
        </p:nvSpPr>
        <p:spPr>
          <a:xfrm>
            <a:off x="9107905" y="585215"/>
            <a:ext cx="1359569" cy="97889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7868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9E46A4-720D-4143-98BF-ECCD01E58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" y="1701942"/>
            <a:ext cx="7960659" cy="51560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36247-F1C5-480D-B46E-5E015BF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Predicted waveform – ORDER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B999D-8A81-40AA-BD95-3029AD5F0A0F}"/>
              </a:ext>
            </a:extLst>
          </p:cNvPr>
          <p:cNvSpPr/>
          <p:nvPr/>
        </p:nvSpPr>
        <p:spPr>
          <a:xfrm>
            <a:off x="5405718" y="2756646"/>
            <a:ext cx="1855694" cy="126402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20D2D-B084-469A-96D8-AA8E7387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27" y="2467534"/>
            <a:ext cx="4285869" cy="31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9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6247-F1C5-480D-B46E-5E015BF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Predicted waveform – ORDER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E6B17-20E5-481A-AAA5-463A3B812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35"/>
          <a:stretch/>
        </p:blipFill>
        <p:spPr>
          <a:xfrm>
            <a:off x="0" y="1702285"/>
            <a:ext cx="8216153" cy="51557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8E010-D478-45F4-BBF2-7B4C0E8B9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80" y="2467534"/>
            <a:ext cx="3577963" cy="31062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333D5C-5913-46C6-B037-6F3C033B70FE}"/>
              </a:ext>
            </a:extLst>
          </p:cNvPr>
          <p:cNvSpPr/>
          <p:nvPr/>
        </p:nvSpPr>
        <p:spPr>
          <a:xfrm>
            <a:off x="5607423" y="2770093"/>
            <a:ext cx="1855694" cy="126402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57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6247-F1C5-480D-B46E-5E015BF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Predicted waveform – ORDER 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26053-C729-4356-9B0F-33F24CE2B5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30" t="3192" r="5913" b="6174"/>
          <a:stretch/>
        </p:blipFill>
        <p:spPr>
          <a:xfrm>
            <a:off x="600637" y="1748117"/>
            <a:ext cx="7265894" cy="4935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8B5D7-9747-4297-93AA-64E33BDF5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31" y="2201789"/>
            <a:ext cx="3975423" cy="32846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95F1DC-E3AC-45CE-AAC4-72AE8930D660}"/>
              </a:ext>
            </a:extLst>
          </p:cNvPr>
          <p:cNvSpPr/>
          <p:nvPr/>
        </p:nvSpPr>
        <p:spPr>
          <a:xfrm>
            <a:off x="5714999" y="2770093"/>
            <a:ext cx="1855694" cy="126402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5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2320-4D4C-4F4E-880E-58143BC9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Golomb-rice 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E33C7-CFFC-4ACD-AF18-2D2D7D905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412" y="2318269"/>
                <a:ext cx="11255891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400" dirty="0"/>
                  <a:t>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Residual </a:t>
                </a:r>
                <a:r>
                  <a:rPr lang="en-GB" sz="2000" dirty="0"/>
                  <a:t>distribution ~ Laplacian Distribution (Two-sided geometric)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</a:p>
              <a:p>
                <a:pPr lvl="1"/>
                <a:r>
                  <a:rPr lang="en-GB" sz="2000" dirty="0"/>
                  <a:t> Find distribution’s mean (</a:t>
                </a:r>
                <a14:m>
                  <m:oMath xmlns:m="http://schemas.openxmlformats.org/officeDocument/2006/math">
                    <m:r>
                      <a:rPr lang="ca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/>
                  <a:t>) → quantify with less bits values near </a:t>
                </a:r>
                <a14:m>
                  <m:oMath xmlns:m="http://schemas.openxmlformats.org/officeDocument/2006/math">
                    <m:r>
                      <a:rPr lang="ca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/>
                  <a:t> as it’s more probable </a:t>
                </a:r>
              </a:p>
              <a:p>
                <a:pPr lvl="1"/>
                <a:r>
                  <a:rPr lang="en-GB" sz="2000" dirty="0"/>
                  <a:t> Calculate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m</a:t>
                </a:r>
                <a:r>
                  <a:rPr lang="en-GB" sz="2000" dirty="0"/>
                  <a:t> parameter</a:t>
                </a:r>
              </a:p>
              <a:p>
                <a:pPr marL="12801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ca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a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ca-E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ca-ES" sz="2000" b="0" dirty="0"/>
              </a:p>
              <a:p>
                <a:pPr marL="12801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ca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ca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ca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ca-ES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ca-E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ca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func>
                          <m:r>
                            <a:rPr lang="ca-ES" sz="2000" b="0" i="1" smtClean="0">
                              <a:latin typeface="Cambria Math" panose="02040503050406030204" pitchFamily="18" charset="0"/>
                            </a:rPr>
                            <m:t>+0.97</m:t>
                          </m:r>
                        </m:e>
                      </m:d>
                    </m:oMath>
                  </m:oMathPara>
                </a14:m>
                <a:endParaRPr lang="ca-ES" sz="2000" b="0" dirty="0"/>
              </a:p>
              <a:p>
                <a:pPr lvl="1"/>
                <a:r>
                  <a:rPr lang="en-GB" sz="2000" dirty="0"/>
                  <a:t> As it’s two-sided geometric → flip negative side and merge it with the positive one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ca-E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ca-E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ca-ES" sz="16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ca-E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ca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ca-E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,             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&amp;−2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−1,  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en-GB" sz="2000" dirty="0"/>
              </a:p>
              <a:p>
                <a:pPr lvl="1"/>
                <a:r>
                  <a:rPr lang="en-GB" sz="2000" b="0" dirty="0"/>
                  <a:t> Calculate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⌊"/>
                        <m:endChr m:val="⌋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000" dirty="0"/>
                  <a:t> and remainder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𝑟𝑒𝑚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000" dirty="0"/>
              </a:p>
              <a:p>
                <a:pPr lvl="1"/>
                <a:r>
                  <a:rPr lang="en-GB" sz="2000" dirty="0"/>
                  <a:t> Generate codeword : 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rem q rem q rem q rem q…</a:t>
                </a:r>
              </a:p>
              <a:p>
                <a:pPr lvl="3"/>
                <a:r>
                  <a:rPr lang="en-GB" sz="1800" dirty="0"/>
                  <a:t>Quotient code → Unary Coding: Write q-length string of 1 bit, write 0 bit. </a:t>
                </a:r>
              </a:p>
              <a:p>
                <a:pPr lvl="3"/>
                <a:r>
                  <a:rPr lang="en-GB" sz="1800" dirty="0"/>
                  <a:t>Remainder code → Binary encoding using b bits </a:t>
                </a:r>
                <a14:m>
                  <m:oMath xmlns:m="http://schemas.openxmlformats.org/officeDocument/2006/math"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⌈"/>
                        <m:endChr m:val="⌉"/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ca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ca-ES" sz="18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ca-E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func>
                      </m:e>
                    </m:d>
                  </m:oMath>
                </a14:m>
                <a:endParaRPr lang="en-GB" sz="1600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E33C7-CFFC-4ACD-AF18-2D2D7D905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412" y="2318269"/>
                <a:ext cx="11255891" cy="4023360"/>
              </a:xfrm>
              <a:blipFill>
                <a:blip r:embed="rId2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D4E8EA6-9CD9-4E27-8466-A21A7A59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992" y="272265"/>
            <a:ext cx="3854311" cy="17330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C3C2E9-8C83-4B47-B430-F2AA68F07FEB}"/>
              </a:ext>
            </a:extLst>
          </p:cNvPr>
          <p:cNvSpPr/>
          <p:nvPr/>
        </p:nvSpPr>
        <p:spPr>
          <a:xfrm>
            <a:off x="10503568" y="476616"/>
            <a:ext cx="664304" cy="650692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E749F-CD08-47CC-9E31-2DA00B89BE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57" t="4828" r="6890" b="7468"/>
          <a:stretch/>
        </p:blipFill>
        <p:spPr>
          <a:xfrm>
            <a:off x="8344617" y="4681267"/>
            <a:ext cx="3305555" cy="205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3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9612-84BC-4B30-8328-1E6BCBC9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decoder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88CDF-B412-438B-B02E-264704A34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301" y="1696453"/>
            <a:ext cx="10171725" cy="4366279"/>
          </a:xfrm>
        </p:spPr>
      </p:pic>
    </p:spTree>
    <p:extLst>
      <p:ext uri="{BB962C8B-B14F-4D97-AF65-F5344CB8AC3E}">
        <p14:creationId xmlns:p14="http://schemas.microsoft.com/office/powerpoint/2010/main" val="434309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3845-C16E-450C-AE50-D535830C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GOLOMB-RICE DECODER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E196837F-04CC-4507-9C5B-F448640F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92" y="232033"/>
            <a:ext cx="3854311" cy="16544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9BD0FF-FF06-419F-A129-9AD80E83CBDF}"/>
              </a:ext>
            </a:extLst>
          </p:cNvPr>
          <p:cNvSpPr/>
          <p:nvPr/>
        </p:nvSpPr>
        <p:spPr>
          <a:xfrm>
            <a:off x="8966316" y="548640"/>
            <a:ext cx="664304" cy="71031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D22F2E-B3E5-4FDF-82FC-99E31FBEF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800" dirty="0"/>
                  <a:t> Get </a:t>
                </a:r>
                <a:r>
                  <a:rPr lang="en-GB" sz="2800" i="1" dirty="0">
                    <a:solidFill>
                      <a:schemeClr val="accent2">
                        <a:lumMod val="75000"/>
                      </a:schemeClr>
                    </a:solidFill>
                  </a:rPr>
                  <a:t>m</a:t>
                </a:r>
                <a:r>
                  <a:rPr lang="en-GB" sz="2800" dirty="0"/>
                  <a:t> as side information</a:t>
                </a:r>
              </a:p>
              <a:p>
                <a:pPr lvl="1"/>
                <a:r>
                  <a:rPr lang="en-GB" sz="2800" dirty="0"/>
                  <a:t> Splits codeword getting </a:t>
                </a:r>
                <a:r>
                  <a:rPr lang="en-GB" sz="2800" i="1" dirty="0">
                    <a:solidFill>
                      <a:schemeClr val="accent2">
                        <a:lumMod val="75000"/>
                      </a:schemeClr>
                    </a:solidFill>
                  </a:rPr>
                  <a:t>q</a:t>
                </a:r>
                <a:r>
                  <a:rPr lang="en-GB" sz="2800" dirty="0"/>
                  <a:t> and</a:t>
                </a:r>
                <a:r>
                  <a:rPr lang="en-GB" sz="2800" i="1" dirty="0"/>
                  <a:t> </a:t>
                </a:r>
                <a:r>
                  <a:rPr lang="en-GB" sz="2800" i="1" dirty="0">
                    <a:solidFill>
                      <a:schemeClr val="accent2">
                        <a:lumMod val="75000"/>
                      </a:schemeClr>
                    </a:solidFill>
                  </a:rPr>
                  <a:t>rem</a:t>
                </a:r>
                <a:r>
                  <a:rPr lang="en-GB" sz="2800" i="1" dirty="0"/>
                  <a:t>.</a:t>
                </a:r>
              </a:p>
              <a:p>
                <a:pPr lvl="2"/>
                <a:r>
                  <a:rPr lang="en-GB" sz="2400" dirty="0"/>
                  <a:t>As we know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m</a:t>
                </a:r>
                <a:r>
                  <a:rPr lang="en-GB" sz="2400" dirty="0"/>
                  <a:t> we know how many bits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rem</a:t>
                </a:r>
                <a:r>
                  <a:rPr lang="en-GB" sz="2400" dirty="0"/>
                  <a:t> has.</a:t>
                </a:r>
              </a:p>
              <a:p>
                <a:pPr lvl="2"/>
                <a:r>
                  <a:rPr lang="en-GB" sz="2400" dirty="0"/>
                  <a:t>We get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q</a:t>
                </a:r>
                <a:r>
                  <a:rPr lang="en-GB" sz="2400" dirty="0"/>
                  <a:t> counting 1 until we find a 0.  </a:t>
                </a:r>
              </a:p>
              <a:p>
                <a:pPr lvl="1"/>
                <a:r>
                  <a:rPr lang="en-GB" sz="2800" i="1" dirty="0"/>
                  <a:t> </a:t>
                </a:r>
                <a:r>
                  <a:rPr lang="en-GB" sz="2800" dirty="0"/>
                  <a:t>Calculate residual → </a:t>
                </a:r>
                <a14:m>
                  <m:oMath xmlns:m="http://schemas.openxmlformats.org/officeDocument/2006/math"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𝑟𝑒𝑚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 ∙</m:t>
                    </m:r>
                    <m:r>
                      <a:rPr lang="ca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ca-ES" sz="20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GB" sz="2800" dirty="0"/>
                  <a:t> Split negative and positive values. </a:t>
                </a:r>
              </a:p>
              <a:p>
                <a:pPr lvl="1"/>
                <a:endParaRPr lang="ca-ES" sz="2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D22F2E-B3E5-4FDF-82FC-99E31FBEF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  <a:blipFill>
                <a:blip r:embed="rId3"/>
                <a:stretch>
                  <a:fillRect l="-288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93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864A-4002-4E24-A186-2EBA4AA1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Predictor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18A5E99D-37A2-470B-9145-B8CBF29C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92" y="271790"/>
            <a:ext cx="3854311" cy="16544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AEDA04-500D-4ABF-91FD-06931A50CCAA}"/>
              </a:ext>
            </a:extLst>
          </p:cNvPr>
          <p:cNvSpPr/>
          <p:nvPr/>
        </p:nvSpPr>
        <p:spPr>
          <a:xfrm>
            <a:off x="9672642" y="548640"/>
            <a:ext cx="1976019" cy="71031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338637-33D7-4F5E-AE9E-33C6E170C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800" dirty="0"/>
                  <a:t> It does the same as the predictor in the coder but with the main difference that input values update for each iteration. </a:t>
                </a:r>
              </a:p>
              <a:p>
                <a:pPr lvl="1"/>
                <a:endParaRPr lang="en-GB" sz="2800" dirty="0"/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ca-ES" sz="2800" dirty="0"/>
              </a:p>
              <a:p>
                <a:pPr marL="128016" lvl="1" indent="0">
                  <a:buNone/>
                </a:pPr>
                <a:r>
                  <a:rPr lang="ca-ES" sz="2800" dirty="0"/>
                  <a:t>As </a:t>
                </a:r>
                <a:r>
                  <a:rPr lang="ca-ES" sz="2800" dirty="0" err="1"/>
                  <a:t>it</a:t>
                </a:r>
                <a:r>
                  <a:rPr lang="ca-ES" sz="2800" dirty="0"/>
                  <a:t> </a:t>
                </a:r>
                <a:r>
                  <a:rPr lang="ca-ES" sz="2800"/>
                  <a:t>is </a:t>
                </a:r>
                <a:r>
                  <a:rPr lang="ca-ES" sz="2800">
                    <a:solidFill>
                      <a:schemeClr val="accent2">
                        <a:lumMod val="75000"/>
                      </a:schemeClr>
                    </a:solidFill>
                  </a:rPr>
                  <a:t>LOSSLESS</a:t>
                </a:r>
                <a:r>
                  <a:rPr lang="ca-ES" sz="2800" dirty="0"/>
                  <a:t>: </a:t>
                </a:r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ca-ES" sz="2800" b="0" dirty="0"/>
              </a:p>
              <a:p>
                <a:pPr marL="128016" lvl="1" indent="0">
                  <a:buNone/>
                </a:pPr>
                <a:endParaRPr lang="ca-ES" sz="2800" b="0" dirty="0"/>
              </a:p>
              <a:p>
                <a:pPr marL="128016" lvl="1" indent="0">
                  <a:buNone/>
                </a:pPr>
                <a:endParaRPr lang="ca-ES" sz="28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338637-33D7-4F5E-AE9E-33C6E170C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  <a:blipFill>
                <a:blip r:embed="rId3"/>
                <a:stretch>
                  <a:fillRect l="-403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773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15D8-12C8-4C95-A92A-3B0D4A37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EB2189D-2E06-4B59-838A-98A8034FB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024128" y="1718277"/>
            <a:ext cx="7796908" cy="4554507"/>
          </a:xfrm>
          <a:prstGeom prst="rect">
            <a:avLst/>
          </a:prstGeom>
        </p:spPr>
      </p:pic>
      <p:pic>
        <p:nvPicPr>
          <p:cNvPr id="12" name="Sunshine_1">
            <a:hlinkClick r:id="" action="ppaction://media"/>
            <a:extLst>
              <a:ext uri="{FF2B5EF4-FFF2-40B4-BE49-F238E27FC236}">
                <a16:creationId xmlns:a16="http://schemas.microsoft.com/office/drawing/2014/main" id="{BCE6E012-D9B2-4B83-A816-4924E05197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134600" y="2246708"/>
            <a:ext cx="609600" cy="609600"/>
          </a:xfrm>
          <a:prstGeom prst="rect">
            <a:avLst/>
          </a:prstGeom>
        </p:spPr>
      </p:pic>
      <p:pic>
        <p:nvPicPr>
          <p:cNvPr id="13" name="Dec_Sunshine_1">
            <a:hlinkClick r:id="" action="ppaction://media"/>
            <a:extLst>
              <a:ext uri="{FF2B5EF4-FFF2-40B4-BE49-F238E27FC236}">
                <a16:creationId xmlns:a16="http://schemas.microsoft.com/office/drawing/2014/main" id="{F0021A22-4A53-4473-A84A-532AC783BB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134600" y="3627784"/>
            <a:ext cx="609600" cy="6096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8454749-71F7-4AE4-A6F5-97D48C799012}"/>
              </a:ext>
            </a:extLst>
          </p:cNvPr>
          <p:cNvSpPr txBox="1">
            <a:spLocks/>
          </p:cNvSpPr>
          <p:nvPr/>
        </p:nvSpPr>
        <p:spPr>
          <a:xfrm>
            <a:off x="8441635" y="708991"/>
            <a:ext cx="3259112" cy="122582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016" lvl="1" indent="0">
              <a:buNone/>
            </a:pPr>
            <a:r>
              <a:rPr lang="en-GB" dirty="0"/>
              <a:t>Fragment:</a:t>
            </a:r>
          </a:p>
          <a:p>
            <a:pPr marL="128016" lvl="1" indent="0" algn="r">
              <a:buNone/>
            </a:pPr>
            <a:r>
              <a:rPr lang="en-GB" sz="1600" dirty="0"/>
              <a:t>You Are The Sunshine Of My Life </a:t>
            </a:r>
          </a:p>
          <a:p>
            <a:pPr marL="128016" lvl="1" indent="0" algn="r">
              <a:buNone/>
            </a:pPr>
            <a:r>
              <a:rPr lang="en-GB" sz="1600" dirty="0"/>
              <a:t>Stevie Wonder</a:t>
            </a:r>
            <a:endParaRPr lang="ca-ES" dirty="0"/>
          </a:p>
          <a:p>
            <a:pPr marL="128016" lvl="1" indent="0">
              <a:buFont typeface="Wingdings 3" pitchFamily="18" charset="2"/>
              <a:buNone/>
            </a:pPr>
            <a:endParaRPr lang="ca-ES" sz="2800" dirty="0"/>
          </a:p>
        </p:txBody>
      </p:sp>
    </p:spTree>
    <p:extLst>
      <p:ext uri="{BB962C8B-B14F-4D97-AF65-F5344CB8AC3E}">
        <p14:creationId xmlns:p14="http://schemas.microsoft.com/office/powerpoint/2010/main" val="39529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15D8-12C8-4C95-A92A-3B0D4A37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0B51A3-14A7-4AD7-88C7-2CBA107B6A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4164" y="708991"/>
                <a:ext cx="5816583" cy="1133061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400" dirty="0"/>
                  <a:t>Original audio: 44.1 kHz / 16-bit</a:t>
                </a:r>
              </a:p>
              <a:p>
                <a:pPr lvl="1"/>
                <a:r>
                  <a:rPr lang="en-GB" sz="2400" dirty="0"/>
                  <a:t>Compression ratio </a:t>
                </a:r>
                <a:r>
                  <a:rPr lang="en-GB" sz="2800" dirty="0"/>
                  <a:t>→ </a:t>
                </a:r>
                <a14:m>
                  <m:oMath xmlns:m="http://schemas.openxmlformats.org/officeDocument/2006/math"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ca-E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𝐶𝑜𝑚𝑝𝑟𝑒𝑠𝑠𝑒𝑑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𝐹𝑖𝑙𝑒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𝑆𝑖𝑧𝑒</m:t>
                        </m:r>
                      </m:num>
                      <m:den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𝑂𝑟𝑖𝑔𝑖𝑛𝑎𝑙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𝐹𝑖𝑙𝑒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𝑆𝑖𝑧𝑒</m:t>
                        </m:r>
                      </m:den>
                    </m:f>
                  </m:oMath>
                </a14:m>
                <a:endParaRPr lang="ca-ES" sz="2800" b="0" dirty="0"/>
              </a:p>
              <a:p>
                <a:pPr marL="128016" lvl="1" indent="0">
                  <a:buNone/>
                </a:pPr>
                <a:endParaRPr lang="ca-ES" sz="2800" b="0" dirty="0"/>
              </a:p>
              <a:p>
                <a:pPr marL="128016" lvl="1" indent="0">
                  <a:buNone/>
                </a:pPr>
                <a:endParaRPr lang="ca-ES" sz="28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0B51A3-14A7-4AD7-88C7-2CBA107B6A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4164" y="708991"/>
                <a:ext cx="5816583" cy="1133061"/>
              </a:xfrm>
              <a:blipFill>
                <a:blip r:embed="rId2"/>
                <a:stretch>
                  <a:fillRect t="-7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482D55-B2E7-4F9B-9235-A84044E57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999872"/>
              </p:ext>
            </p:extLst>
          </p:nvPr>
        </p:nvGraphicFramePr>
        <p:xfrm>
          <a:off x="1024128" y="1965827"/>
          <a:ext cx="10143743" cy="4448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3090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45E909-B122-4DEE-9149-9E908796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FA88C1-3EB0-4CB9-A837-FD661E049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-39757"/>
            <a:ext cx="12188952" cy="4572000"/>
          </a:xfrm>
        </p:spPr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48C8CF-8587-43AA-A060-9DC74D91A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29817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663</TotalTime>
  <Words>525</Words>
  <Application>Microsoft Office PowerPoint</Application>
  <PresentationFormat>Widescreen</PresentationFormat>
  <Paragraphs>94</Paragraphs>
  <Slides>18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Cambria Math</vt:lpstr>
      <vt:lpstr>Tw Cen MT</vt:lpstr>
      <vt:lpstr>Tw Cen MT Condensed</vt:lpstr>
      <vt:lpstr>Wingdings</vt:lpstr>
      <vt:lpstr>Wingdings 3</vt:lpstr>
      <vt:lpstr>Integral</vt:lpstr>
      <vt:lpstr>MPEG 4-LosSless audio coding</vt:lpstr>
      <vt:lpstr>INDEX</vt:lpstr>
      <vt:lpstr>introduction</vt:lpstr>
      <vt:lpstr>encoder</vt:lpstr>
      <vt:lpstr>Parcor values</vt:lpstr>
      <vt:lpstr>Zero-pole unit circle diagram</vt:lpstr>
      <vt:lpstr>QUANTIFY + DEQUANTIFY</vt:lpstr>
      <vt:lpstr>Parcor to lpc + predictor</vt:lpstr>
      <vt:lpstr>Predicted waveform – ORDER 2</vt:lpstr>
      <vt:lpstr>Predicted waveform – ORDER 8</vt:lpstr>
      <vt:lpstr>Predicted waveform – ORDER 12</vt:lpstr>
      <vt:lpstr>Golomb-rice coder</vt:lpstr>
      <vt:lpstr>decoder</vt:lpstr>
      <vt:lpstr>GOLOMB-RICE DECODER</vt:lpstr>
      <vt:lpstr>Predictor</vt:lpstr>
      <vt:lpstr>results</vt:lpstr>
      <vt:lpstr>results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MPEG 4-LosSeless audio coding</dc:title>
  <dc:creator>Maria Gibert</dc:creator>
  <cp:lastModifiedBy>Maria Gibert</cp:lastModifiedBy>
  <cp:revision>58</cp:revision>
  <dcterms:created xsi:type="dcterms:W3CDTF">2018-04-14T08:55:18Z</dcterms:created>
  <dcterms:modified xsi:type="dcterms:W3CDTF">2018-04-16T19:05:41Z</dcterms:modified>
</cp:coreProperties>
</file>
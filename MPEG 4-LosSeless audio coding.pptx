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lac" ContentType="audi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ria\Documents\UNIVERSITAT\4A\CCAV\PROJ1\CCAV_1\tau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2800" dirty="0"/>
              <a:t>Compression ratio / Predictor</a:t>
            </a:r>
            <a:r>
              <a:rPr lang="en-GB" sz="2800" baseline="0" dirty="0"/>
              <a:t> order</a:t>
            </a:r>
            <a:endParaRPr lang="en-GB" sz="2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Sheet2!$D$3</c:f>
              <c:strCache>
                <c:ptCount val="1"/>
                <c:pt idx="0">
                  <c:v>Classical</c:v>
                </c:pt>
              </c:strCache>
            </c:strRef>
          </c:tx>
          <c:spPr>
            <a:ln w="571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Sheet2!$D$4:$D$8</c:f>
              <c:numCache>
                <c:formatCode>General</c:formatCode>
                <c:ptCount val="5"/>
                <c:pt idx="0">
                  <c:v>52.74</c:v>
                </c:pt>
                <c:pt idx="1">
                  <c:v>48.8</c:v>
                </c:pt>
                <c:pt idx="2">
                  <c:v>47.09</c:v>
                </c:pt>
                <c:pt idx="3">
                  <c:v>47.19</c:v>
                </c:pt>
                <c:pt idx="4">
                  <c:v>47.33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AEF-450C-8290-928BAB006783}"/>
            </c:ext>
          </c:extLst>
        </c:ser>
        <c:ser>
          <c:idx val="1"/>
          <c:order val="1"/>
          <c:tx>
            <c:strRef>
              <c:f>Sheet2!$E$3</c:f>
              <c:strCache>
                <c:ptCount val="1"/>
                <c:pt idx="0">
                  <c:v>Pop</c:v>
                </c:pt>
              </c:strCache>
            </c:strRef>
          </c:tx>
          <c:spPr>
            <a:ln w="571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Sheet2!$E$4:$E$8</c:f>
              <c:numCache>
                <c:formatCode>General</c:formatCode>
                <c:ptCount val="5"/>
                <c:pt idx="0">
                  <c:v>77.430000000000007</c:v>
                </c:pt>
                <c:pt idx="1">
                  <c:v>73.290000000000006</c:v>
                </c:pt>
                <c:pt idx="2">
                  <c:v>73.08</c:v>
                </c:pt>
                <c:pt idx="3">
                  <c:v>73.13</c:v>
                </c:pt>
                <c:pt idx="4">
                  <c:v>73.22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0AEF-450C-8290-928BAB006783}"/>
            </c:ext>
          </c:extLst>
        </c:ser>
        <c:ser>
          <c:idx val="2"/>
          <c:order val="2"/>
          <c:tx>
            <c:strRef>
              <c:f>Sheet2!$F$3</c:f>
              <c:strCache>
                <c:ptCount val="1"/>
                <c:pt idx="0">
                  <c:v>Punk</c:v>
                </c:pt>
              </c:strCache>
            </c:strRef>
          </c:tx>
          <c:spPr>
            <a:ln w="571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Sheet2!$F$4:$F$8</c:f>
              <c:numCache>
                <c:formatCode>General</c:formatCode>
                <c:ptCount val="5"/>
                <c:pt idx="0">
                  <c:v>79.349999999999994</c:v>
                </c:pt>
                <c:pt idx="1">
                  <c:v>76.989999999999995</c:v>
                </c:pt>
                <c:pt idx="2">
                  <c:v>76.760000000000005</c:v>
                </c:pt>
                <c:pt idx="3">
                  <c:v>76.86</c:v>
                </c:pt>
                <c:pt idx="4">
                  <c:v>76.91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AEF-450C-8290-928BAB006783}"/>
            </c:ext>
          </c:extLst>
        </c:ser>
        <c:ser>
          <c:idx val="3"/>
          <c:order val="3"/>
          <c:tx>
            <c:strRef>
              <c:f>Sheet2!$G$3</c:f>
              <c:strCache>
                <c:ptCount val="1"/>
                <c:pt idx="0">
                  <c:v>Soul</c:v>
                </c:pt>
              </c:strCache>
            </c:strRef>
          </c:tx>
          <c:spPr>
            <a:ln w="571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Sheet2!$G$4:$G$8</c:f>
              <c:numCache>
                <c:formatCode>General</c:formatCode>
                <c:ptCount val="5"/>
                <c:pt idx="0">
                  <c:v>68.489999999999995</c:v>
                </c:pt>
                <c:pt idx="1">
                  <c:v>67.69</c:v>
                </c:pt>
                <c:pt idx="2">
                  <c:v>66.59</c:v>
                </c:pt>
                <c:pt idx="3">
                  <c:v>66.180000000000007</c:v>
                </c:pt>
                <c:pt idx="4">
                  <c:v>66.180000000000007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AEF-450C-8290-928BAB006783}"/>
            </c:ext>
          </c:extLst>
        </c:ser>
        <c:ser>
          <c:idx val="4"/>
          <c:order val="4"/>
          <c:tx>
            <c:strRef>
              <c:f>Sheet2!$H$3</c:f>
              <c:strCache>
                <c:ptCount val="1"/>
                <c:pt idx="0">
                  <c:v>Reggae</c:v>
                </c:pt>
              </c:strCache>
            </c:strRef>
          </c:tx>
          <c:spPr>
            <a:ln w="57150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Sheet2!$H$4:$H$8</c:f>
              <c:numCache>
                <c:formatCode>General</c:formatCode>
                <c:ptCount val="5"/>
                <c:pt idx="0">
                  <c:v>65.11</c:v>
                </c:pt>
                <c:pt idx="1">
                  <c:v>63.72</c:v>
                </c:pt>
                <c:pt idx="2">
                  <c:v>63.02</c:v>
                </c:pt>
                <c:pt idx="3">
                  <c:v>62.72</c:v>
                </c:pt>
                <c:pt idx="4">
                  <c:v>62.61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AEF-450C-8290-928BAB0067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6382824"/>
        <c:axId val="556382168"/>
      </c:scatterChart>
      <c:valAx>
        <c:axId val="556382824"/>
        <c:scaling>
          <c:orientation val="minMax"/>
          <c:max val="16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800"/>
                  <a:t>Predictor</a:t>
                </a:r>
                <a:r>
                  <a:rPr lang="en-US" sz="1800" baseline="0"/>
                  <a:t> Order</a:t>
                </a:r>
                <a:endParaRPr lang="en-US" sz="18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168"/>
        <c:crosses val="autoZero"/>
        <c:crossBetween val="midCat"/>
      </c:valAx>
      <c:valAx>
        <c:axId val="556382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lang="en-GB" sz="1800" b="0" i="0" u="none" strike="noStrike" kern="1200" baseline="0" noProof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800" noProof="0" dirty="0"/>
                  <a:t>Compression Ratio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en-GB" sz="1800" b="0" i="0" u="none" strike="noStrike" kern="1200" baseline="0" noProof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82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ca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2.flac"/><Relationship Id="rId7" Type="http://schemas.openxmlformats.org/officeDocument/2006/relationships/image" Target="../media/image10.png"/><Relationship Id="rId2" Type="http://schemas.openxmlformats.org/officeDocument/2006/relationships/audio" Target="../media/media1.flac"/><Relationship Id="rId1" Type="http://schemas.microsoft.com/office/2007/relationships/media" Target="../media/media1.flac"/><Relationship Id="rId6" Type="http://schemas.openxmlformats.org/officeDocument/2006/relationships/image" Target="../media/image9.emf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flac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4-LosSeless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GB" sz="2400" dirty="0"/>
              <a:t>Introduction</a:t>
            </a:r>
          </a:p>
          <a:p>
            <a:pPr lvl="1"/>
            <a:r>
              <a:rPr lang="en-GB" sz="2400" dirty="0"/>
              <a:t>Encoder</a:t>
            </a:r>
          </a:p>
          <a:p>
            <a:pPr lvl="2"/>
            <a:r>
              <a:rPr lang="en-GB" sz="1800" dirty="0"/>
              <a:t>Parcor Values</a:t>
            </a:r>
          </a:p>
          <a:p>
            <a:pPr lvl="2"/>
            <a:r>
              <a:rPr lang="en-GB" sz="1800" dirty="0"/>
              <a:t>Quantify + </a:t>
            </a:r>
            <a:r>
              <a:rPr lang="en-GB" sz="1800" dirty="0" err="1"/>
              <a:t>Dequantify</a:t>
            </a:r>
            <a:endParaRPr lang="en-GB" sz="1800" dirty="0"/>
          </a:p>
          <a:p>
            <a:pPr lvl="2"/>
            <a:r>
              <a:rPr lang="en-GB" sz="1800" dirty="0"/>
              <a:t>Parcor to LPC + Predictor</a:t>
            </a:r>
          </a:p>
          <a:p>
            <a:pPr lvl="2"/>
            <a:r>
              <a:rPr lang="en-GB" sz="1800" dirty="0"/>
              <a:t>Golomb Rice Coding</a:t>
            </a:r>
          </a:p>
          <a:p>
            <a:pPr lvl="1"/>
            <a:r>
              <a:rPr lang="en-GB" sz="2400" dirty="0"/>
              <a:t>Decoder</a:t>
            </a:r>
          </a:p>
          <a:p>
            <a:pPr lvl="2"/>
            <a:r>
              <a:rPr lang="en-GB" sz="1800" dirty="0"/>
              <a:t>Golomb Rice Decoder</a:t>
            </a:r>
          </a:p>
          <a:p>
            <a:pPr lvl="2"/>
            <a:r>
              <a:rPr lang="en-GB" sz="1800" dirty="0"/>
              <a:t>Predictor</a:t>
            </a:r>
            <a:endParaRPr lang="en-GB" sz="2400" dirty="0"/>
          </a:p>
          <a:p>
            <a:pPr lvl="1"/>
            <a:r>
              <a:rPr lang="en-GB" sz="2400" dirty="0"/>
              <a:t>Results</a:t>
            </a:r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	R(0) = R(0)*257/256  to stabilize the predicted values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coder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476616"/>
            <a:ext cx="664304" cy="650692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Get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800" dirty="0"/>
                  <a:t> as side information</a:t>
                </a:r>
              </a:p>
              <a:p>
                <a:pPr lvl="1"/>
                <a:r>
                  <a:rPr lang="en-GB" sz="2800" dirty="0"/>
                  <a:t> Splits codeword getting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800" dirty="0"/>
                  <a:t> and</a:t>
                </a:r>
                <a:r>
                  <a:rPr lang="en-GB" sz="2800" i="1" dirty="0"/>
                  <a:t>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800" i="1" dirty="0"/>
                  <a:t>.</a:t>
                </a:r>
              </a:p>
              <a:p>
                <a:pPr lvl="2"/>
                <a:r>
                  <a:rPr lang="en-GB" sz="2400" dirty="0"/>
                  <a:t>As we know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400" dirty="0"/>
                  <a:t> we know how many bits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400" dirty="0"/>
                  <a:t> has.</a:t>
                </a:r>
              </a:p>
              <a:p>
                <a:pPr lvl="2"/>
                <a:r>
                  <a:rPr lang="en-GB" sz="2400" dirty="0"/>
                  <a:t>We get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400" dirty="0"/>
                  <a:t> counting 1 until we find a 0.  </a:t>
                </a:r>
              </a:p>
              <a:p>
                <a:pPr lvl="1"/>
                <a:r>
                  <a:rPr lang="en-GB" sz="2800" i="1" dirty="0"/>
                  <a:t> </a:t>
                </a:r>
                <a:r>
                  <a:rPr lang="en-GB" sz="2800" dirty="0"/>
                  <a:t>Calculate residual 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 ∙</m:t>
                    </m:r>
                    <m:r>
                      <a:rPr lang="ca-E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ca-ES" sz="20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GB" sz="2800" dirty="0"/>
                  <a:t> Split negative and positive values. </a:t>
                </a:r>
              </a:p>
              <a:p>
                <a:pPr lvl="1"/>
                <a:endParaRPr lang="ca-ES" sz="28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It does the same as the predictor in the coder but with the main difference that input values update for each iteration. </a:t>
                </a:r>
              </a:p>
              <a:p>
                <a:pPr lvl="1"/>
                <a:endParaRPr lang="en-GB" sz="28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ca-ES" sz="2800" dirty="0"/>
              </a:p>
              <a:p>
                <a:pPr marL="128016" lvl="1" indent="0">
                  <a:buNone/>
                </a:pPr>
                <a:r>
                  <a:rPr lang="ca-ES" sz="2800" dirty="0"/>
                  <a:t>As </a:t>
                </a:r>
                <a:r>
                  <a:rPr lang="ca-ES" sz="2800" dirty="0" err="1"/>
                  <a:t>it</a:t>
                </a:r>
                <a:r>
                  <a:rPr lang="ca-ES" sz="2800" dirty="0"/>
                  <a:t> is </a:t>
                </a:r>
                <a:r>
                  <a:rPr lang="ca-ES" sz="2800" dirty="0">
                    <a:solidFill>
                      <a:schemeClr val="accent2">
                        <a:lumMod val="75000"/>
                      </a:schemeClr>
                    </a:solidFill>
                  </a:rPr>
                  <a:t>LOSSELESS</a:t>
                </a:r>
                <a:r>
                  <a:rPr lang="ca-ES" sz="2800" dirty="0"/>
                  <a:t>: </a:t>
                </a: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403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EB2189D-2E06-4B59-838A-98A8034FB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024128" y="1718277"/>
            <a:ext cx="7796908" cy="4554507"/>
          </a:xfrm>
          <a:prstGeom prst="rect">
            <a:avLst/>
          </a:prstGeom>
        </p:spPr>
      </p:pic>
      <p:pic>
        <p:nvPicPr>
          <p:cNvPr id="12" name="Sunshine_1">
            <a:hlinkClick r:id="" action="ppaction://media"/>
            <a:extLst>
              <a:ext uri="{FF2B5EF4-FFF2-40B4-BE49-F238E27FC236}">
                <a16:creationId xmlns:a16="http://schemas.microsoft.com/office/drawing/2014/main" id="{BCE6E012-D9B2-4B83-A816-4924E05197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2246708"/>
            <a:ext cx="609600" cy="609600"/>
          </a:xfrm>
          <a:prstGeom prst="rect">
            <a:avLst/>
          </a:prstGeom>
        </p:spPr>
      </p:pic>
      <p:pic>
        <p:nvPicPr>
          <p:cNvPr id="13" name="Dec_Sunshine_1">
            <a:hlinkClick r:id="" action="ppaction://media"/>
            <a:extLst>
              <a:ext uri="{FF2B5EF4-FFF2-40B4-BE49-F238E27FC236}">
                <a16:creationId xmlns:a16="http://schemas.microsoft.com/office/drawing/2014/main" id="{F0021A22-4A53-4473-A84A-532AC783BB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3627784"/>
            <a:ext cx="609600" cy="6096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8454749-71F7-4AE4-A6F5-97D48C799012}"/>
              </a:ext>
            </a:extLst>
          </p:cNvPr>
          <p:cNvSpPr txBox="1">
            <a:spLocks/>
          </p:cNvSpPr>
          <p:nvPr/>
        </p:nvSpPr>
        <p:spPr>
          <a:xfrm>
            <a:off x="8441635" y="708991"/>
            <a:ext cx="3259112" cy="122582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8016" lvl="1" indent="0">
              <a:buNone/>
            </a:pPr>
            <a:r>
              <a:rPr lang="en-GB" dirty="0"/>
              <a:t>Fragment:</a:t>
            </a:r>
          </a:p>
          <a:p>
            <a:pPr marL="128016" lvl="1" indent="0" algn="r">
              <a:buNone/>
            </a:pPr>
            <a:r>
              <a:rPr lang="en-GB" sz="1600" dirty="0"/>
              <a:t>You Are The Sunshine Of My Life </a:t>
            </a:r>
          </a:p>
          <a:p>
            <a:pPr marL="128016" lvl="1" indent="0" algn="r">
              <a:buNone/>
            </a:pPr>
            <a:r>
              <a:rPr lang="en-GB" sz="1600" dirty="0"/>
              <a:t>Stevie Wonder</a:t>
            </a:r>
            <a:endParaRPr lang="ca-ES" dirty="0"/>
          </a:p>
          <a:p>
            <a:pPr marL="128016" lvl="1" indent="0">
              <a:buFont typeface="Wingdings 3" pitchFamily="18" charset="2"/>
              <a:buNone/>
            </a:pPr>
            <a:endParaRPr lang="ca-ES" sz="2800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Original audio: 44.1 kHz / 16-bit</a:t>
                </a:r>
              </a:p>
              <a:p>
                <a:pPr lvl="1"/>
                <a:r>
                  <a:rPr lang="en-GB" sz="2400" dirty="0"/>
                  <a:t>Compression ratio </a:t>
                </a:r>
                <a:r>
                  <a:rPr lang="en-GB" sz="2800" dirty="0"/>
                  <a:t>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ca-E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𝐶𝑜𝑚𝑝𝑟𝑒𝑠𝑠𝑒𝑑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num>
                      <m:den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𝑂𝑟𝑖𝑔𝑖𝑛𝑎𝑙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den>
                    </m:f>
                  </m:oMath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  <a:blipFill>
                <a:blip r:embed="rId2"/>
                <a:stretch>
                  <a:fillRect t="-75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482D55-B2E7-4F9B-9235-A84044E57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0910171"/>
              </p:ext>
            </p:extLst>
          </p:nvPr>
        </p:nvGraphicFramePr>
        <p:xfrm>
          <a:off x="1024128" y="1965827"/>
          <a:ext cx="10143743" cy="4448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930907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448</TotalTime>
  <Words>388</Words>
  <Application>Microsoft Office PowerPoint</Application>
  <PresentationFormat>Widescreen</PresentationFormat>
  <Paragraphs>75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4-LosSeless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39</cp:revision>
  <dcterms:created xsi:type="dcterms:W3CDTF">2018-04-14T08:55:18Z</dcterms:created>
  <dcterms:modified xsi:type="dcterms:W3CDTF">2018-04-15T18:44:49Z</dcterms:modified>
</cp:coreProperties>
</file>
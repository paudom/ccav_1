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6" r:id="rId7"/>
    <p:sldId id="264" r:id="rId8"/>
    <p:sldId id="267" r:id="rId9"/>
    <p:sldId id="260" r:id="rId10"/>
    <p:sldId id="268" r:id="rId11"/>
    <p:sldId id="269" r:id="rId12"/>
    <p:sldId id="261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662" autoAdjust="0"/>
    <p:restoredTop sz="94660"/>
  </p:normalViewPr>
  <p:slideViewPr>
    <p:cSldViewPr snapToGrid="0">
      <p:cViewPr varScale="1">
        <p:scale>
          <a:sx n="72" d="100"/>
          <a:sy n="72" d="100"/>
        </p:scale>
        <p:origin x="42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96DFF08F-DC6B-4601-B491-B0F83F6DD2DA}" type="datetimeFigureOut">
              <a:rPr lang="en-US" dirty="0"/>
              <a:pPr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96DFF08F-DC6B-4601-B491-B0F83F6DD2DA}" type="datetimeFigureOut">
              <a:rPr lang="en-US" dirty="0"/>
              <a:pPr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1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998FD-4E2E-42E9-A91E-ECEE69CDE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/>
          <a:lstStyle/>
          <a:p>
            <a:r>
              <a:rPr lang="ca-ES" dirty="0"/>
              <a:t>MPEG 4-LosSeless </a:t>
            </a:r>
            <a:r>
              <a:rPr lang="en-GB" dirty="0"/>
              <a:t>audio</a:t>
            </a:r>
            <a:r>
              <a:rPr lang="ca-ES" dirty="0"/>
              <a:t> </a:t>
            </a:r>
            <a:r>
              <a:rPr lang="en-GB" dirty="0"/>
              <a:t>coding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6F37AA-8A41-466C-98ED-D5F8A0EA2C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a-ES" dirty="0"/>
              <a:t>Pablo Domingo</a:t>
            </a:r>
          </a:p>
          <a:p>
            <a:r>
              <a:rPr lang="ca-ES" dirty="0"/>
              <a:t>Maria Gibert</a:t>
            </a:r>
          </a:p>
          <a:p>
            <a:r>
              <a:rPr lang="ca-ES" dirty="0"/>
              <a:t>CCAV – P18</a:t>
            </a:r>
          </a:p>
        </p:txBody>
      </p:sp>
    </p:spTree>
    <p:extLst>
      <p:ext uri="{BB962C8B-B14F-4D97-AF65-F5344CB8AC3E}">
        <p14:creationId xmlns:p14="http://schemas.microsoft.com/office/powerpoint/2010/main" val="3417366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1F58A-8C3B-46CF-B13F-AC66D803C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1F32C-04DF-420A-8A8F-0876F7FC9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ca-ES" sz="2400" dirty="0" err="1"/>
              <a:t>Introduction</a:t>
            </a:r>
            <a:endParaRPr lang="ca-ES" sz="2400" dirty="0"/>
          </a:p>
          <a:p>
            <a:pPr lvl="1"/>
            <a:r>
              <a:rPr lang="ca-ES" sz="2400" dirty="0" err="1"/>
              <a:t>Encoder</a:t>
            </a:r>
            <a:endParaRPr lang="ca-ES" sz="2400" dirty="0"/>
          </a:p>
          <a:p>
            <a:pPr lvl="2"/>
            <a:r>
              <a:rPr lang="ca-ES" sz="1800" dirty="0"/>
              <a:t>Parcor </a:t>
            </a:r>
            <a:r>
              <a:rPr lang="ca-ES" sz="1800" dirty="0" err="1"/>
              <a:t>Values</a:t>
            </a:r>
            <a:endParaRPr lang="ca-ES" sz="1800" dirty="0"/>
          </a:p>
          <a:p>
            <a:pPr lvl="2"/>
            <a:r>
              <a:rPr lang="ca-ES" sz="1800" dirty="0" err="1"/>
              <a:t>Quantify</a:t>
            </a:r>
            <a:r>
              <a:rPr lang="ca-ES" sz="1800" dirty="0"/>
              <a:t> + </a:t>
            </a:r>
            <a:r>
              <a:rPr lang="ca-ES" sz="1800" dirty="0" err="1"/>
              <a:t>Dequantify</a:t>
            </a:r>
            <a:endParaRPr lang="ca-ES" sz="1800" dirty="0"/>
          </a:p>
          <a:p>
            <a:pPr lvl="2"/>
            <a:r>
              <a:rPr lang="ca-ES" sz="1800" dirty="0"/>
              <a:t>Parcor to LPC + Predictor</a:t>
            </a:r>
          </a:p>
          <a:p>
            <a:pPr lvl="2"/>
            <a:r>
              <a:rPr lang="ca-ES" sz="1800" dirty="0" err="1"/>
              <a:t>Golomb</a:t>
            </a:r>
            <a:r>
              <a:rPr lang="ca-ES" sz="1800" dirty="0"/>
              <a:t> Rice </a:t>
            </a:r>
            <a:r>
              <a:rPr lang="ca-ES" sz="1800" dirty="0" err="1"/>
              <a:t>Coding</a:t>
            </a:r>
            <a:endParaRPr lang="ca-ES" sz="1800" dirty="0"/>
          </a:p>
          <a:p>
            <a:pPr lvl="1"/>
            <a:r>
              <a:rPr lang="ca-ES" sz="2400" dirty="0" err="1"/>
              <a:t>Decoder</a:t>
            </a:r>
            <a:endParaRPr lang="ca-ES" sz="2400" dirty="0"/>
          </a:p>
          <a:p>
            <a:pPr lvl="2"/>
            <a:r>
              <a:rPr lang="ca-ES" sz="1800" dirty="0" err="1"/>
              <a:t>Golomb</a:t>
            </a:r>
            <a:r>
              <a:rPr lang="ca-ES" sz="1800" dirty="0"/>
              <a:t> Rice </a:t>
            </a:r>
            <a:r>
              <a:rPr lang="ca-ES" sz="1800" dirty="0" err="1"/>
              <a:t>Decoder</a:t>
            </a:r>
            <a:endParaRPr lang="ca-ES" sz="1800" dirty="0"/>
          </a:p>
          <a:p>
            <a:pPr lvl="2"/>
            <a:r>
              <a:rPr lang="ca-ES" sz="1800" dirty="0"/>
              <a:t>Predictor</a:t>
            </a:r>
            <a:endParaRPr lang="ca-ES" sz="2400" dirty="0"/>
          </a:p>
          <a:p>
            <a:pPr lvl="1"/>
            <a:r>
              <a:rPr lang="ca-ES" sz="2400" dirty="0" err="1"/>
              <a:t>Results</a:t>
            </a:r>
            <a:endParaRPr lang="ca-ES" sz="2400" dirty="0"/>
          </a:p>
          <a:p>
            <a:pPr lvl="2"/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81648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05BCB-8C28-431F-8751-12A464156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7F161-C12E-48B9-9B1D-4DF85E910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935606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E9B80-78B4-4969-AB92-0359BB957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encoder</a:t>
            </a:r>
            <a:endParaRPr lang="ca-E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6D6E1E-F2BD-4291-8480-666594A54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128" y="1711749"/>
            <a:ext cx="10143744" cy="4561036"/>
          </a:xfr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85305CA-06D9-4D08-A9D5-9BADCA8EFCD2}"/>
              </a:ext>
            </a:extLst>
          </p:cNvPr>
          <p:cNvSpPr/>
          <p:nvPr/>
        </p:nvSpPr>
        <p:spPr>
          <a:xfrm>
            <a:off x="2405792" y="2476670"/>
            <a:ext cx="1152939" cy="734695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02045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E9B80-78B4-4969-AB92-0359BB957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Parcor values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6D6E1E-F2BD-4291-8480-666594A54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54992" y="351778"/>
            <a:ext cx="3854311" cy="1733053"/>
          </a:xfr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85305CA-06D9-4D08-A9D5-9BADCA8EFCD2}"/>
              </a:ext>
            </a:extLst>
          </p:cNvPr>
          <p:cNvSpPr/>
          <p:nvPr/>
        </p:nvSpPr>
        <p:spPr>
          <a:xfrm>
            <a:off x="8554453" y="1378226"/>
            <a:ext cx="478452" cy="516835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0D7611-59B8-4D6F-8021-4840898BD047}"/>
              </a:ext>
            </a:extLst>
          </p:cNvPr>
          <p:cNvSpPr txBox="1">
            <a:spLocks/>
          </p:cNvSpPr>
          <p:nvPr/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2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 sz="2400" dirty="0"/>
              <a:t>Apply</a:t>
            </a:r>
            <a:r>
              <a:rPr lang="ca-ES" sz="2400" dirty="0"/>
              <a:t> Hamming </a:t>
            </a:r>
            <a:r>
              <a:rPr lang="en-GB" sz="2400" dirty="0"/>
              <a:t>window to each frame</a:t>
            </a:r>
          </a:p>
          <a:p>
            <a:pPr lvl="1"/>
            <a:r>
              <a:rPr lang="en-GB" sz="2400" dirty="0">
                <a:sym typeface="Wingdings" panose="05000000000000000000" pitchFamily="2" charset="2"/>
              </a:rPr>
              <a:t>Calculate the autocorrelation order p</a:t>
            </a:r>
          </a:p>
          <a:p>
            <a:pPr lvl="1"/>
            <a:r>
              <a:rPr lang="en-GB" sz="2400" dirty="0">
                <a:sym typeface="Wingdings" panose="05000000000000000000" pitchFamily="2" charset="2"/>
              </a:rPr>
              <a:t>Levinson – Durbin algorithm to estimate </a:t>
            </a:r>
            <a:r>
              <a:rPr lang="en-GB" sz="2400" dirty="0">
                <a:solidFill>
                  <a:schemeClr val="accent2">
                    <a:lumMod val="75000"/>
                  </a:schemeClr>
                </a:solidFill>
                <a:sym typeface="Wingdings" panose="05000000000000000000" pitchFamily="2" charset="2"/>
              </a:rPr>
              <a:t>PARCOR VALUES </a:t>
            </a:r>
            <a:r>
              <a:rPr lang="en-GB" sz="2400" i="1" dirty="0">
                <a:solidFill>
                  <a:schemeClr val="accent2">
                    <a:lumMod val="75000"/>
                  </a:schemeClr>
                </a:solidFill>
                <a:sym typeface="Wingdings" panose="05000000000000000000" pitchFamily="2" charset="2"/>
              </a:rPr>
              <a:t>(k)</a:t>
            </a:r>
            <a:r>
              <a:rPr lang="en-GB" sz="2400" dirty="0">
                <a:solidFill>
                  <a:schemeClr val="accent2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GB" sz="2400" dirty="0">
                <a:sym typeface="Wingdings" panose="05000000000000000000" pitchFamily="2" charset="2"/>
              </a:rPr>
              <a:t>using windowed frame</a:t>
            </a:r>
          </a:p>
          <a:p>
            <a:pPr lvl="2"/>
            <a:r>
              <a:rPr lang="en-GB" sz="1800" dirty="0">
                <a:sym typeface="Wingdings" panose="05000000000000000000" pitchFamily="2" charset="2"/>
              </a:rPr>
              <a:t>Initialization</a:t>
            </a:r>
          </a:p>
          <a:p>
            <a:pPr marL="310896" lvl="2" indent="0">
              <a:buNone/>
            </a:pPr>
            <a:r>
              <a:rPr lang="en-GB" sz="1800" dirty="0">
                <a:sym typeface="Wingdings" panose="05000000000000000000" pitchFamily="2" charset="2"/>
              </a:rPr>
              <a:t>	R(0) = R(0)*257/256  to stabilize the predicted values</a:t>
            </a:r>
          </a:p>
          <a:p>
            <a:pPr lvl="2"/>
            <a:r>
              <a:rPr lang="en-GB" sz="1800" dirty="0">
                <a:sym typeface="Wingdings" panose="05000000000000000000" pitchFamily="2" charset="2"/>
              </a:rPr>
              <a:t>Iterate</a:t>
            </a:r>
          </a:p>
          <a:p>
            <a:pPr marL="640080" lvl="4" indent="0">
              <a:buNone/>
            </a:pPr>
            <a:r>
              <a:rPr lang="en-GB" sz="1800" dirty="0">
                <a:sym typeface="Wingdings" panose="05000000000000000000" pitchFamily="2" charset="2"/>
              </a:rPr>
              <a:t>	</a:t>
            </a:r>
          </a:p>
          <a:p>
            <a:pPr lvl="2"/>
            <a:endParaRPr lang="en-GB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639567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E9B80-78B4-4969-AB92-0359BB957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QUANTIFY + DEQUANTIFY</a:t>
            </a:r>
            <a:endParaRPr lang="ca-ES" dirty="0"/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3F1D38FC-50D1-4ABA-8C78-329A25E0C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992" y="312022"/>
            <a:ext cx="3854311" cy="173305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DA04549-CFFD-4842-87AF-834F6871D6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1"/>
                <a:r>
                  <a:rPr lang="en-GB" sz="2400" dirty="0"/>
                  <a:t> Mapping using </a:t>
                </a:r>
                <a14:m>
                  <m:oMath xmlns:m="http://schemas.openxmlformats.org/officeDocument/2006/math"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𝑎𝑟𝑐𝑠𝑖𝑛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ca-ES" sz="2400" dirty="0"/>
                  <a:t> → </a:t>
                </a:r>
                <a:r>
                  <a:rPr lang="en-GB" sz="2400" dirty="0"/>
                  <a:t>allows us to use uniform quantization</a:t>
                </a:r>
              </a:p>
              <a:p>
                <a:pPr lvl="2"/>
                <a:r>
                  <a:rPr lang="en-GB" sz="2000" dirty="0"/>
                  <a:t>Range </a:t>
                </a:r>
                <a:r>
                  <a:rPr lang="ca-ES" sz="2000" dirty="0"/>
                  <a:t>→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ca-E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lin"/>
                            <m:ctrlPr>
                              <a:rPr lang="ca-E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ca-E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ca-E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type m:val="lin"/>
                            <m:ctrlPr>
                              <a:rPr lang="ca-E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ca-E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ca-E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endParaRPr lang="en-GB" sz="2000" dirty="0"/>
              </a:p>
              <a:p>
                <a:pPr lvl="1"/>
                <a:r>
                  <a:rPr lang="en-GB" sz="2400" dirty="0"/>
                  <a:t> Uniform quantifier</a:t>
                </a:r>
              </a:p>
              <a:p>
                <a:pPr lvl="2"/>
                <a:r>
                  <a:rPr lang="ca-ES" sz="2000" dirty="0"/>
                  <a:t>MID-RISER 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ca-ES" sz="20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ca-ES" sz="2000" i="1"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endParaRPr lang="en-GB" sz="2000" dirty="0"/>
              </a:p>
              <a:p>
                <a:pPr lvl="1"/>
                <a:r>
                  <a:rPr lang="en-GB" sz="2400" dirty="0"/>
                  <a:t> Send to the multiplexer </a:t>
                </a:r>
                <a:r>
                  <a:rPr lang="ca-ES" sz="2400" dirty="0"/>
                  <a:t>→</a:t>
                </a:r>
                <a:r>
                  <a:rPr lang="en-GB" sz="2400" dirty="0"/>
                  <a:t> fixed-length coding using </a:t>
                </a:r>
                <a14:m>
                  <m:oMath xmlns:m="http://schemas.openxmlformats.org/officeDocument/2006/math">
                    <m:r>
                      <a:rPr lang="ca-ES" sz="2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sz="2400" dirty="0"/>
                  <a:t> bits</a:t>
                </a:r>
              </a:p>
              <a:p>
                <a:endParaRPr lang="en-GB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DA04549-CFFD-4842-87AF-834F6871D6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27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879AA0F0-0976-4641-9CEE-F318896BAB32}"/>
              </a:ext>
            </a:extLst>
          </p:cNvPr>
          <p:cNvSpPr/>
          <p:nvPr/>
        </p:nvSpPr>
        <p:spPr>
          <a:xfrm>
            <a:off x="9015140" y="1404731"/>
            <a:ext cx="1359569" cy="490330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97219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98841-4CC7-482F-AB3D-233D9497D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Parcor to </a:t>
            </a:r>
            <a:r>
              <a:rPr lang="en-GB" dirty="0" err="1"/>
              <a:t>lpc</a:t>
            </a:r>
            <a:r>
              <a:rPr lang="en-GB" dirty="0"/>
              <a:t> + predictor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554C32-E509-409B-B4A7-BD245A7092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800" dirty="0"/>
                  <a:t> To get 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LPC coefficients </a:t>
                </a:r>
                <a:r>
                  <a:rPr lang="en-GB" sz="28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ca-E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a-ES" sz="28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ca-ES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GB" sz="2800" dirty="0"/>
                  <a:t>)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 </a:t>
                </a:r>
                <a:r>
                  <a:rPr lang="en-GB" dirty="0"/>
                  <a:t>→ </a:t>
                </a:r>
                <a:r>
                  <a:rPr lang="en-GB" sz="2800" dirty="0"/>
                  <a:t>Repeat Levinson – Durbin algorithm</a:t>
                </a:r>
              </a:p>
              <a:p>
                <a:pPr lvl="1"/>
                <a:r>
                  <a:rPr lang="en-GB" sz="2800" dirty="0"/>
                  <a:t> 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Predictor</a:t>
                </a:r>
                <a:r>
                  <a:rPr lang="ca-ES" sz="2800" dirty="0"/>
                  <a:t> → </a:t>
                </a:r>
                <a:r>
                  <a:rPr lang="en-GB" sz="2800" dirty="0"/>
                  <a:t>Filters frame using coefficients:</a:t>
                </a:r>
              </a:p>
              <a:p>
                <a:pPr marL="128016" lvl="1" indent="0">
                  <a:buNone/>
                </a:pPr>
                <a:r>
                  <a:rPr lang="en-GB" sz="2800" dirty="0"/>
                  <a:t> </a:t>
                </a:r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ca-E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⌊"/>
                          <m:endChr m:val="⌋"/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ca-E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n-GB" sz="2800" dirty="0">
                  <a:solidFill>
                    <a:schemeClr val="accent2">
                      <a:lumMod val="75000"/>
                    </a:schemeClr>
                  </a:solidFill>
                </a:endParaRPr>
              </a:p>
              <a:p>
                <a:pPr lvl="1"/>
                <a:r>
                  <a:rPr lang="en-GB" sz="2800" dirty="0"/>
                  <a:t> 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Residual </a:t>
                </a:r>
                <a:endParaRPr lang="en-GB" dirty="0"/>
              </a:p>
              <a:p>
                <a:pPr marL="128016" lvl="1" indent="0">
                  <a:buNone/>
                </a:pPr>
                <a:endParaRPr lang="en-GB" dirty="0"/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ca-ES" sz="2800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𝑒𝑠𝑖𝑑𝑢𝑎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ca-ES" sz="2800" b="0" dirty="0"/>
              </a:p>
              <a:p>
                <a:pPr marL="128016" lvl="1" indent="0">
                  <a:buNone/>
                </a:pPr>
                <a:endParaRPr lang="ca-ES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554C32-E509-409B-B4A7-BD245A7092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  <a:blipFill>
                <a:blip r:embed="rId2"/>
                <a:stretch>
                  <a:fillRect l="-288" t="-25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0225C262-0708-47BE-9AB0-0400CED7F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4992" y="351778"/>
            <a:ext cx="3854311" cy="173305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F50461C-7FE5-44C4-9180-5E7A35AA1E64}"/>
              </a:ext>
            </a:extLst>
          </p:cNvPr>
          <p:cNvSpPr/>
          <p:nvPr/>
        </p:nvSpPr>
        <p:spPr>
          <a:xfrm>
            <a:off x="9107905" y="585215"/>
            <a:ext cx="1359569" cy="978890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778688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2320-4D4C-4F4E-880E-58143BC90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Golomb</a:t>
            </a:r>
            <a:r>
              <a:rPr lang="en-GB" dirty="0"/>
              <a:t>-rice </a:t>
            </a:r>
            <a:r>
              <a:rPr lang="en-GB" dirty="0" err="1"/>
              <a:t>codER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E33C7-CFFC-4ACD-AF18-2D2D7D905C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412" y="2318269"/>
                <a:ext cx="11255891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400" dirty="0"/>
                  <a:t>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Residual </a:t>
                </a:r>
                <a:r>
                  <a:rPr lang="en-GB" sz="2000" dirty="0"/>
                  <a:t>distribution ~ Laplacian Distribution (Two-sided geometric)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 </a:t>
                </a:r>
              </a:p>
              <a:p>
                <a:pPr lvl="1"/>
                <a:r>
                  <a:rPr lang="en-GB" sz="2000" dirty="0"/>
                  <a:t> Find distribution’s mean (</a:t>
                </a:r>
                <a14:m>
                  <m:oMath xmlns:m="http://schemas.openxmlformats.org/officeDocument/2006/math">
                    <m:r>
                      <a:rPr lang="ca-E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sz="2000" dirty="0"/>
                  <a:t>) → quantify with less bits values near </a:t>
                </a:r>
                <a14:m>
                  <m:oMath xmlns:m="http://schemas.openxmlformats.org/officeDocument/2006/math">
                    <m:r>
                      <a:rPr lang="ca-E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sz="2000" dirty="0"/>
                  <a:t> as it’s more probable </a:t>
                </a:r>
              </a:p>
              <a:p>
                <a:pPr lvl="1"/>
                <a:r>
                  <a:rPr lang="en-GB" sz="2000" dirty="0"/>
                  <a:t> Calculate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m</a:t>
                </a:r>
                <a:r>
                  <a:rPr lang="en-GB" sz="2000" dirty="0"/>
                  <a:t> parameter</a:t>
                </a:r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ca-E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ca-E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ca-E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ca-ES" sz="2000" b="0" dirty="0"/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⌊"/>
                          <m:endChr m:val="⌋"/>
                          <m:ctrlPr>
                            <a:rPr lang="ca-E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ca-E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ca-E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ca-ES" sz="20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ca-E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ca-E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func>
                          <m:r>
                            <a:rPr lang="ca-ES" sz="2000" b="0" i="1" smtClean="0">
                              <a:latin typeface="Cambria Math" panose="02040503050406030204" pitchFamily="18" charset="0"/>
                            </a:rPr>
                            <m:t>+0.97</m:t>
                          </m:r>
                        </m:e>
                      </m:d>
                    </m:oMath>
                  </m:oMathPara>
                </a14:m>
                <a:endParaRPr lang="ca-ES" sz="2000" b="0" dirty="0"/>
              </a:p>
              <a:p>
                <a:pPr lvl="1"/>
                <a:r>
                  <a:rPr lang="en-GB" sz="2000" dirty="0"/>
                  <a:t> As it’s two-sided geometric → flip negative side and merge it with the positive one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ca-E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ca-E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sup>
                        <m:r>
                          <a:rPr lang="ca-ES" sz="1600" i="1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ca-ES" sz="16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ca-E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ca-ES" sz="16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,             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&amp;−2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−1,  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endParaRPr lang="en-GB" sz="2000" dirty="0"/>
              </a:p>
              <a:p>
                <a:pPr lvl="1"/>
                <a:r>
                  <a:rPr lang="en-GB" sz="2000" b="0" dirty="0"/>
                  <a:t> Calculate quotient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000" b="0" i="0" smtClean="0">
                        <a:latin typeface="Cambria Math" panose="02040503050406030204" pitchFamily="18" charset="0"/>
                      </a:rPr>
                      <m:t>q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⌊"/>
                        <m:endChr m:val="⌋"/>
                        <m:ctrlPr>
                          <a:rPr lang="en-GB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skw"/>
                            <m:ctrlPr>
                              <a:rPr lang="en-GB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0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en-GB" sz="20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r>
                  <a:rPr lang="en-GB" sz="2000" dirty="0"/>
                  <a:t> and remainder </a:t>
                </a:r>
                <a14:m>
                  <m:oMath xmlns:m="http://schemas.openxmlformats.org/officeDocument/2006/math"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𝑟𝑒𝑚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GB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GB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en-GB" sz="2000" dirty="0"/>
              </a:p>
              <a:p>
                <a:pPr lvl="1"/>
                <a:r>
                  <a:rPr lang="en-GB" sz="2000" dirty="0"/>
                  <a:t> Generate codeword : 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rem q rem q rem q rem q…</a:t>
                </a:r>
              </a:p>
              <a:p>
                <a:pPr lvl="3"/>
                <a:r>
                  <a:rPr lang="en-GB" sz="1800" dirty="0"/>
                  <a:t>Quotient code → Unary Coding: Write q-length string of 1 bit, write 0 bit. </a:t>
                </a:r>
              </a:p>
              <a:p>
                <a:pPr lvl="3"/>
                <a:r>
                  <a:rPr lang="en-GB" sz="1800" dirty="0"/>
                  <a:t>Remainder Code → Binary encoding using b bits </a:t>
                </a:r>
                <a14:m>
                  <m:oMath xmlns:m="http://schemas.openxmlformats.org/officeDocument/2006/math">
                    <m:r>
                      <a:rPr lang="ca-ES" sz="1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ca-ES" sz="1800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⌈"/>
                        <m:endChr m:val="⌉"/>
                        <m:ctrlPr>
                          <a:rPr lang="ca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ca-ES" sz="18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ca-E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ca-ES" sz="1800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ca-ES" sz="1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ca-ES" sz="18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ca-ES" sz="18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func>
                      </m:e>
                    </m:d>
                  </m:oMath>
                </a14:m>
                <a:endParaRPr lang="en-GB" sz="1600" dirty="0"/>
              </a:p>
              <a:p>
                <a:pPr lvl="1"/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E33C7-CFFC-4ACD-AF18-2D2D7D905C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412" y="2318269"/>
                <a:ext cx="11255891" cy="4023360"/>
              </a:xfrm>
              <a:blipFill>
                <a:blip r:embed="rId2"/>
                <a:stretch>
                  <a:fillRect t="-18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BD4E8EA6-9CD9-4E27-8466-A21A7A596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4992" y="272265"/>
            <a:ext cx="3854311" cy="173305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1C3C2E9-8C83-4B47-B430-F2AA68F07FEB}"/>
              </a:ext>
            </a:extLst>
          </p:cNvPr>
          <p:cNvSpPr/>
          <p:nvPr/>
        </p:nvSpPr>
        <p:spPr>
          <a:xfrm>
            <a:off x="10503568" y="548640"/>
            <a:ext cx="664304" cy="618423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01723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19612-84BC-4B30-8328-1E6BCBC96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decoder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588CDF-B412-438B-B02E-264704A34F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8301" y="1696453"/>
            <a:ext cx="10171725" cy="4366279"/>
          </a:xfrm>
        </p:spPr>
      </p:pic>
    </p:spTree>
    <p:extLst>
      <p:ext uri="{BB962C8B-B14F-4D97-AF65-F5344CB8AC3E}">
        <p14:creationId xmlns:p14="http://schemas.microsoft.com/office/powerpoint/2010/main" val="4343095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63845-C16E-450C-AE50-D535830C1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GOLOMB-RICE DECODER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65CA1-A16A-40A9-B211-7CCD3DD76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E196837F-04CC-4507-9C5B-F448640F2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992" y="232033"/>
            <a:ext cx="3854311" cy="165448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F9BD0FF-FF06-419F-A129-9AD80E83CBDF}"/>
              </a:ext>
            </a:extLst>
          </p:cNvPr>
          <p:cNvSpPr/>
          <p:nvPr/>
        </p:nvSpPr>
        <p:spPr>
          <a:xfrm>
            <a:off x="8966316" y="548640"/>
            <a:ext cx="664304" cy="710317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500930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8864A-4002-4E24-A186-2EBA4AA12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Predictor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85B520-723A-41B1-8204-AC8A39F2CC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endParaRPr lang="en-GB" dirty="0"/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18A5E99D-37A2-470B-9145-B8CBF29CB8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992" y="271790"/>
            <a:ext cx="3854311" cy="165448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FAEDA04-500D-4ABF-91FD-06931A50CCAA}"/>
              </a:ext>
            </a:extLst>
          </p:cNvPr>
          <p:cNvSpPr/>
          <p:nvPr/>
        </p:nvSpPr>
        <p:spPr>
          <a:xfrm>
            <a:off x="9672642" y="548640"/>
            <a:ext cx="1976019" cy="710317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1157730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715D8-12C8-4C95-A92A-3B0D4A37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9EC67-F2A0-4E75-AF16-7A344C264B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9529244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090DCB5F-146D-478A-852A-34B16FE9F3A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334</TotalTime>
  <Words>262</Words>
  <Application>Microsoft Office PowerPoint</Application>
  <PresentationFormat>Widescreen</PresentationFormat>
  <Paragraphs>55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Cambria Math</vt:lpstr>
      <vt:lpstr>Tw Cen MT</vt:lpstr>
      <vt:lpstr>Tw Cen MT Condensed</vt:lpstr>
      <vt:lpstr>Wingdings</vt:lpstr>
      <vt:lpstr>Wingdings 3</vt:lpstr>
      <vt:lpstr>Integral</vt:lpstr>
      <vt:lpstr>MPEG 4-LosSeless audio coding</vt:lpstr>
      <vt:lpstr>INDEX</vt:lpstr>
      <vt:lpstr>introduction</vt:lpstr>
      <vt:lpstr>encoder</vt:lpstr>
      <vt:lpstr>Parcor values</vt:lpstr>
      <vt:lpstr>QUANTIFY + DEQUANTIFY</vt:lpstr>
      <vt:lpstr>Parcor to lpc + predictor</vt:lpstr>
      <vt:lpstr>Golomb-rice codER</vt:lpstr>
      <vt:lpstr>decoder</vt:lpstr>
      <vt:lpstr>GOLOMB-RICE DECODER</vt:lpstr>
      <vt:lpstr>Predictor</vt:lpstr>
      <vt:lpstr>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MPEG 4-LosSeless audio coding</dc:title>
  <dc:creator>Maria Gibert</dc:creator>
  <cp:lastModifiedBy>Maria Gibert</cp:lastModifiedBy>
  <cp:revision>29</cp:revision>
  <dcterms:created xsi:type="dcterms:W3CDTF">2018-04-14T08:55:18Z</dcterms:created>
  <dcterms:modified xsi:type="dcterms:W3CDTF">2018-04-15T15:45:07Z</dcterms:modified>
</cp:coreProperties>
</file>
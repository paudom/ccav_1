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flac" ContentType="audio/unknown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6" r:id="rId7"/>
    <p:sldId id="264" r:id="rId8"/>
    <p:sldId id="267" r:id="rId9"/>
    <p:sldId id="260" r:id="rId10"/>
    <p:sldId id="268" r:id="rId11"/>
    <p:sldId id="269" r:id="rId12"/>
    <p:sldId id="261" r:id="rId13"/>
    <p:sldId id="270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662" autoAdjust="0"/>
    <p:restoredTop sz="94660"/>
  </p:normalViewPr>
  <p:slideViewPr>
    <p:cSldViewPr snapToGrid="0">
      <p:cViewPr varScale="1">
        <p:scale>
          <a:sx n="72" d="100"/>
          <a:sy n="72" d="100"/>
        </p:scale>
        <p:origin x="42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Maria\Documents\UNIVERSITAT\4A\CCAV\PROJ1\CCAV_1\taule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8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 sz="2800" dirty="0"/>
              <a:t>Compression ratio / Predictor</a:t>
            </a:r>
            <a:r>
              <a:rPr lang="en-GB" sz="2800" baseline="0" dirty="0"/>
              <a:t> order</a:t>
            </a:r>
            <a:endParaRPr lang="en-GB" sz="28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8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ca-ES"/>
        </a:p>
      </c:txPr>
    </c:title>
    <c:autoTitleDeleted val="0"/>
    <c:plotArea>
      <c:layout/>
      <c:scatterChart>
        <c:scatterStyle val="smoothMarker"/>
        <c:varyColors val="0"/>
        <c:ser>
          <c:idx val="0"/>
          <c:order val="0"/>
          <c:tx>
            <c:strRef>
              <c:f>Sheet2!$D$3</c:f>
              <c:strCache>
                <c:ptCount val="1"/>
                <c:pt idx="0">
                  <c:v>Classical</c:v>
                </c:pt>
              </c:strCache>
            </c:strRef>
          </c:tx>
          <c:spPr>
            <a:ln w="571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Sheet2!$C$4:$C$8</c:f>
              <c:numCache>
                <c:formatCode>General</c:formatCode>
                <c:ptCount val="5"/>
                <c:pt idx="0">
                  <c:v>2</c:v>
                </c:pt>
                <c:pt idx="1">
                  <c:v>4</c:v>
                </c:pt>
                <c:pt idx="2">
                  <c:v>8</c:v>
                </c:pt>
                <c:pt idx="3">
                  <c:v>12</c:v>
                </c:pt>
                <c:pt idx="4">
                  <c:v>16</c:v>
                </c:pt>
              </c:numCache>
            </c:numRef>
          </c:xVal>
          <c:yVal>
            <c:numRef>
              <c:f>Sheet2!$D$4:$D$8</c:f>
              <c:numCache>
                <c:formatCode>General</c:formatCode>
                <c:ptCount val="5"/>
                <c:pt idx="0">
                  <c:v>52.74</c:v>
                </c:pt>
                <c:pt idx="1">
                  <c:v>48.8</c:v>
                </c:pt>
                <c:pt idx="2">
                  <c:v>47.09</c:v>
                </c:pt>
                <c:pt idx="3">
                  <c:v>47.19</c:v>
                </c:pt>
                <c:pt idx="4">
                  <c:v>47.33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0AEF-450C-8290-928BAB006783}"/>
            </c:ext>
          </c:extLst>
        </c:ser>
        <c:ser>
          <c:idx val="1"/>
          <c:order val="1"/>
          <c:tx>
            <c:strRef>
              <c:f>Sheet2!$E$3</c:f>
              <c:strCache>
                <c:ptCount val="1"/>
                <c:pt idx="0">
                  <c:v>Pop</c:v>
                </c:pt>
              </c:strCache>
            </c:strRef>
          </c:tx>
          <c:spPr>
            <a:ln w="571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Sheet2!$C$4:$C$8</c:f>
              <c:numCache>
                <c:formatCode>General</c:formatCode>
                <c:ptCount val="5"/>
                <c:pt idx="0">
                  <c:v>2</c:v>
                </c:pt>
                <c:pt idx="1">
                  <c:v>4</c:v>
                </c:pt>
                <c:pt idx="2">
                  <c:v>8</c:v>
                </c:pt>
                <c:pt idx="3">
                  <c:v>12</c:v>
                </c:pt>
                <c:pt idx="4">
                  <c:v>16</c:v>
                </c:pt>
              </c:numCache>
            </c:numRef>
          </c:xVal>
          <c:yVal>
            <c:numRef>
              <c:f>Sheet2!$E$4:$E$8</c:f>
              <c:numCache>
                <c:formatCode>General</c:formatCode>
                <c:ptCount val="5"/>
                <c:pt idx="0">
                  <c:v>77.430000000000007</c:v>
                </c:pt>
                <c:pt idx="1">
                  <c:v>73.290000000000006</c:v>
                </c:pt>
                <c:pt idx="2">
                  <c:v>73.08</c:v>
                </c:pt>
                <c:pt idx="3">
                  <c:v>73.13</c:v>
                </c:pt>
                <c:pt idx="4">
                  <c:v>73.22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0AEF-450C-8290-928BAB006783}"/>
            </c:ext>
          </c:extLst>
        </c:ser>
        <c:ser>
          <c:idx val="2"/>
          <c:order val="2"/>
          <c:tx>
            <c:strRef>
              <c:f>Sheet2!$F$3</c:f>
              <c:strCache>
                <c:ptCount val="1"/>
                <c:pt idx="0">
                  <c:v>Punk</c:v>
                </c:pt>
              </c:strCache>
            </c:strRef>
          </c:tx>
          <c:spPr>
            <a:ln w="57150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xVal>
            <c:numRef>
              <c:f>Sheet2!$C$4:$C$8</c:f>
              <c:numCache>
                <c:formatCode>General</c:formatCode>
                <c:ptCount val="5"/>
                <c:pt idx="0">
                  <c:v>2</c:v>
                </c:pt>
                <c:pt idx="1">
                  <c:v>4</c:v>
                </c:pt>
                <c:pt idx="2">
                  <c:v>8</c:v>
                </c:pt>
                <c:pt idx="3">
                  <c:v>12</c:v>
                </c:pt>
                <c:pt idx="4">
                  <c:v>16</c:v>
                </c:pt>
              </c:numCache>
            </c:numRef>
          </c:xVal>
          <c:yVal>
            <c:numRef>
              <c:f>Sheet2!$F$4:$F$8</c:f>
              <c:numCache>
                <c:formatCode>General</c:formatCode>
                <c:ptCount val="5"/>
                <c:pt idx="0">
                  <c:v>79.349999999999994</c:v>
                </c:pt>
                <c:pt idx="1">
                  <c:v>76.989999999999995</c:v>
                </c:pt>
                <c:pt idx="2">
                  <c:v>76.760000000000005</c:v>
                </c:pt>
                <c:pt idx="3">
                  <c:v>76.86</c:v>
                </c:pt>
                <c:pt idx="4">
                  <c:v>76.91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0AEF-450C-8290-928BAB006783}"/>
            </c:ext>
          </c:extLst>
        </c:ser>
        <c:ser>
          <c:idx val="3"/>
          <c:order val="3"/>
          <c:tx>
            <c:strRef>
              <c:f>Sheet2!$G$3</c:f>
              <c:strCache>
                <c:ptCount val="1"/>
                <c:pt idx="0">
                  <c:v>Soul</c:v>
                </c:pt>
              </c:strCache>
            </c:strRef>
          </c:tx>
          <c:spPr>
            <a:ln w="57150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xVal>
            <c:numRef>
              <c:f>Sheet2!$C$4:$C$8</c:f>
              <c:numCache>
                <c:formatCode>General</c:formatCode>
                <c:ptCount val="5"/>
                <c:pt idx="0">
                  <c:v>2</c:v>
                </c:pt>
                <c:pt idx="1">
                  <c:v>4</c:v>
                </c:pt>
                <c:pt idx="2">
                  <c:v>8</c:v>
                </c:pt>
                <c:pt idx="3">
                  <c:v>12</c:v>
                </c:pt>
                <c:pt idx="4">
                  <c:v>16</c:v>
                </c:pt>
              </c:numCache>
            </c:numRef>
          </c:xVal>
          <c:yVal>
            <c:numRef>
              <c:f>Sheet2!$G$4:$G$8</c:f>
              <c:numCache>
                <c:formatCode>General</c:formatCode>
                <c:ptCount val="5"/>
                <c:pt idx="0">
                  <c:v>68.489999999999995</c:v>
                </c:pt>
                <c:pt idx="1">
                  <c:v>67.69</c:v>
                </c:pt>
                <c:pt idx="2">
                  <c:v>66.59</c:v>
                </c:pt>
                <c:pt idx="3">
                  <c:v>66.180000000000007</c:v>
                </c:pt>
                <c:pt idx="4">
                  <c:v>66.180000000000007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0AEF-450C-8290-928BAB006783}"/>
            </c:ext>
          </c:extLst>
        </c:ser>
        <c:ser>
          <c:idx val="4"/>
          <c:order val="4"/>
          <c:tx>
            <c:strRef>
              <c:f>Sheet2!$H$3</c:f>
              <c:strCache>
                <c:ptCount val="1"/>
                <c:pt idx="0">
                  <c:v>Reggae</c:v>
                </c:pt>
              </c:strCache>
            </c:strRef>
          </c:tx>
          <c:spPr>
            <a:ln w="57150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xVal>
            <c:numRef>
              <c:f>Sheet2!$C$4:$C$8</c:f>
              <c:numCache>
                <c:formatCode>General</c:formatCode>
                <c:ptCount val="5"/>
                <c:pt idx="0">
                  <c:v>2</c:v>
                </c:pt>
                <c:pt idx="1">
                  <c:v>4</c:v>
                </c:pt>
                <c:pt idx="2">
                  <c:v>8</c:v>
                </c:pt>
                <c:pt idx="3">
                  <c:v>12</c:v>
                </c:pt>
                <c:pt idx="4">
                  <c:v>16</c:v>
                </c:pt>
              </c:numCache>
            </c:numRef>
          </c:xVal>
          <c:yVal>
            <c:numRef>
              <c:f>Sheet2!$H$4:$H$8</c:f>
              <c:numCache>
                <c:formatCode>General</c:formatCode>
                <c:ptCount val="5"/>
                <c:pt idx="0">
                  <c:v>65.11</c:v>
                </c:pt>
                <c:pt idx="1">
                  <c:v>63.72</c:v>
                </c:pt>
                <c:pt idx="2">
                  <c:v>63.02</c:v>
                </c:pt>
                <c:pt idx="3">
                  <c:v>62.72</c:v>
                </c:pt>
                <c:pt idx="4">
                  <c:v>62.61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0AEF-450C-8290-928BAB00678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56382824"/>
        <c:axId val="556382168"/>
      </c:scatterChart>
      <c:valAx>
        <c:axId val="556382824"/>
        <c:scaling>
          <c:orientation val="minMax"/>
          <c:max val="16"/>
          <c:min val="2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inorGridlines>
          <c:spPr>
            <a:ln w="9525" cap="flat" cmpd="sng" algn="ctr">
              <a:solidFill>
                <a:schemeClr val="tx1">
                  <a:lumMod val="5000"/>
                  <a:lumOff val="95000"/>
                </a:schemeClr>
              </a:solidFill>
              <a:round/>
            </a:ln>
            <a:effectLst/>
          </c:spPr>
        </c:min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800" dirty="0"/>
                  <a:t>Predictor</a:t>
                </a:r>
                <a:r>
                  <a:rPr lang="en-US" sz="1800" baseline="0" dirty="0"/>
                  <a:t> Order</a:t>
                </a:r>
                <a:endParaRPr lang="en-US" sz="1800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8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ca-E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ca-ES"/>
          </a:p>
        </c:txPr>
        <c:crossAx val="556382168"/>
        <c:crosses val="autoZero"/>
        <c:crossBetween val="midCat"/>
      </c:valAx>
      <c:valAx>
        <c:axId val="5563821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inorGridlines>
          <c:spPr>
            <a:ln w="9525" cap="flat" cmpd="sng" algn="ctr">
              <a:solidFill>
                <a:schemeClr val="tx1">
                  <a:lumMod val="5000"/>
                  <a:lumOff val="95000"/>
                </a:schemeClr>
              </a:solidFill>
              <a:round/>
            </a:ln>
            <a:effectLst/>
          </c:spPr>
        </c:min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lang="en-GB" sz="1800" b="0" i="0" u="none" strike="noStrike" kern="1200" baseline="0" noProof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 sz="1800" noProof="0" dirty="0"/>
                  <a:t>Compression Ratio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lang="en-GB" sz="1800" b="0" i="0" u="none" strike="noStrike" kern="1200" baseline="0" noProof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ca-ES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ca-ES"/>
          </a:p>
        </c:txPr>
        <c:crossAx val="55638282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ca-E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ca-E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96DFF08F-DC6B-4601-B491-B0F83F6DD2DA}" type="datetimeFigureOut">
              <a:rPr lang="en-US" dirty="0"/>
              <a:pPr/>
              <a:t>4/15/2018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8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lIns="45720" rIns="4572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89320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89320" y="2967788"/>
            <a:ext cx="4754880" cy="3341572"/>
          </a:xfrm>
        </p:spPr>
        <p:txBody>
          <a:bodyPr lIns="45720" rIns="4572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16CA0-919D-4A49-9C8A-62FDFB3A5183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E5644-1E61-4311-A31E-84CB9C7AA8A9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0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1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8" y="6470704"/>
            <a:ext cx="2154142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fld id="{96DFF08F-DC6B-4601-B491-B0F83F6DD2DA}" type="datetimeFigureOut">
              <a:rPr lang="en-US" dirty="0"/>
              <a:pPr/>
              <a:t>4/15/2018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8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4" y="6470704"/>
            <a:ext cx="973666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1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0000"/>
              <a:lumOff val="10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media" Target="../media/media2.flac"/><Relationship Id="rId7" Type="http://schemas.openxmlformats.org/officeDocument/2006/relationships/image" Target="../media/image9.png"/><Relationship Id="rId2" Type="http://schemas.openxmlformats.org/officeDocument/2006/relationships/audio" Target="../media/media1.flac"/><Relationship Id="rId1" Type="http://schemas.microsoft.com/office/2007/relationships/media" Target="../media/media1.flac"/><Relationship Id="rId6" Type="http://schemas.openxmlformats.org/officeDocument/2006/relationships/image" Target="../media/image7.emf"/><Relationship Id="rId5" Type="http://schemas.openxmlformats.org/officeDocument/2006/relationships/slideLayout" Target="../slideLayouts/slideLayout2.xml"/><Relationship Id="rId4" Type="http://schemas.openxmlformats.org/officeDocument/2006/relationships/audio" Target="../media/media2.flac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998FD-4E2E-42E9-A91E-ECEE69CDEE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/>
          <a:lstStyle/>
          <a:p>
            <a:r>
              <a:rPr lang="ca-ES" dirty="0"/>
              <a:t>MPEG 4-LosSless </a:t>
            </a:r>
            <a:r>
              <a:rPr lang="en-GB" dirty="0"/>
              <a:t>audio</a:t>
            </a:r>
            <a:r>
              <a:rPr lang="ca-ES" dirty="0"/>
              <a:t> </a:t>
            </a:r>
            <a:r>
              <a:rPr lang="en-GB" dirty="0"/>
              <a:t>coding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6F37AA-8A41-466C-98ED-D5F8A0EA2C0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ca-ES" dirty="0"/>
              <a:t>Pablo Domingo</a:t>
            </a:r>
          </a:p>
          <a:p>
            <a:r>
              <a:rPr lang="ca-ES" dirty="0"/>
              <a:t>Maria Gibert</a:t>
            </a:r>
          </a:p>
          <a:p>
            <a:r>
              <a:rPr lang="ca-ES" dirty="0"/>
              <a:t>CCAV – P18</a:t>
            </a:r>
          </a:p>
        </p:txBody>
      </p:sp>
    </p:spTree>
    <p:extLst>
      <p:ext uri="{BB962C8B-B14F-4D97-AF65-F5344CB8AC3E}">
        <p14:creationId xmlns:p14="http://schemas.microsoft.com/office/powerpoint/2010/main" val="34173663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1F58A-8C3B-46CF-B13F-AC66D803C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1F32C-04DF-420A-8A8F-0876F7FC9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GB" sz="2400" dirty="0"/>
              <a:t>Introduction</a:t>
            </a:r>
          </a:p>
          <a:p>
            <a:pPr lvl="1"/>
            <a:r>
              <a:rPr lang="en-GB" sz="2400" dirty="0"/>
              <a:t>Encoder</a:t>
            </a:r>
          </a:p>
          <a:p>
            <a:pPr lvl="2"/>
            <a:r>
              <a:rPr lang="en-GB" sz="1800" dirty="0"/>
              <a:t>Parcor Values</a:t>
            </a:r>
          </a:p>
          <a:p>
            <a:pPr lvl="2"/>
            <a:r>
              <a:rPr lang="en-GB" sz="1800" dirty="0"/>
              <a:t>Quantify + </a:t>
            </a:r>
            <a:r>
              <a:rPr lang="en-GB" sz="1800" dirty="0" err="1"/>
              <a:t>Dequantify</a:t>
            </a:r>
            <a:endParaRPr lang="en-GB" sz="1800" dirty="0"/>
          </a:p>
          <a:p>
            <a:pPr lvl="2"/>
            <a:r>
              <a:rPr lang="en-GB" sz="1800" dirty="0"/>
              <a:t>Parcor to LPC + Predictor</a:t>
            </a:r>
          </a:p>
          <a:p>
            <a:pPr lvl="2"/>
            <a:r>
              <a:rPr lang="en-GB" sz="1800" dirty="0"/>
              <a:t>Golomb Rice Coding</a:t>
            </a:r>
          </a:p>
          <a:p>
            <a:pPr lvl="1"/>
            <a:r>
              <a:rPr lang="en-GB" sz="2400" dirty="0"/>
              <a:t>Decoder</a:t>
            </a:r>
          </a:p>
          <a:p>
            <a:pPr lvl="2"/>
            <a:r>
              <a:rPr lang="en-GB" sz="1800" dirty="0"/>
              <a:t>Golomb Rice Decoder</a:t>
            </a:r>
          </a:p>
          <a:p>
            <a:pPr lvl="2"/>
            <a:r>
              <a:rPr lang="en-GB" sz="1800" dirty="0"/>
              <a:t>Predictor</a:t>
            </a:r>
            <a:endParaRPr lang="en-GB" sz="2400" dirty="0"/>
          </a:p>
          <a:p>
            <a:pPr lvl="1"/>
            <a:r>
              <a:rPr lang="en-GB" sz="2400" dirty="0"/>
              <a:t>Results</a:t>
            </a:r>
          </a:p>
          <a:p>
            <a:pPr lvl="2"/>
            <a:endParaRPr lang="ca-ES" dirty="0"/>
          </a:p>
        </p:txBody>
      </p:sp>
    </p:spTree>
    <p:extLst>
      <p:ext uri="{BB962C8B-B14F-4D97-AF65-F5344CB8AC3E}">
        <p14:creationId xmlns:p14="http://schemas.microsoft.com/office/powerpoint/2010/main" val="3816481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05BCB-8C28-431F-8751-12A464156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7F161-C12E-48B9-9B1D-4DF85E910D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0164" y="2249423"/>
            <a:ext cx="10667999" cy="4217637"/>
          </a:xfrm>
        </p:spPr>
        <p:txBody>
          <a:bodyPr>
            <a:normAutofit/>
          </a:bodyPr>
          <a:lstStyle/>
          <a:p>
            <a:pPr marL="128016" lvl="1" indent="0">
              <a:buNone/>
            </a:pPr>
            <a:r>
              <a:rPr lang="en-GB" sz="2800" dirty="0"/>
              <a:t>MPEG-4 ALS: an Emerging Standard for Lossless Audio Coding by Tilman </a:t>
            </a:r>
            <a:r>
              <a:rPr lang="en-GB" sz="2800" dirty="0" err="1"/>
              <a:t>Liebchen</a:t>
            </a:r>
            <a:r>
              <a:rPr lang="en-GB" sz="2800" dirty="0"/>
              <a:t> and </a:t>
            </a:r>
            <a:r>
              <a:rPr lang="en-GB" sz="2800" dirty="0" err="1"/>
              <a:t>Yuriy</a:t>
            </a:r>
            <a:r>
              <a:rPr lang="en-GB" sz="2800" dirty="0"/>
              <a:t> A. Reznik.</a:t>
            </a:r>
          </a:p>
          <a:p>
            <a:pPr lvl="1"/>
            <a:r>
              <a:rPr lang="en-GB" sz="2400" dirty="0"/>
              <a:t>Many applications in recording and distribution of audio → Studio operations, collaborative work or music distribution over the Internet, etc.</a:t>
            </a:r>
          </a:p>
          <a:p>
            <a:pPr lvl="1"/>
            <a:r>
              <a:rPr lang="en-GB" sz="2400" dirty="0"/>
              <a:t>Standard introduced in March 2003 </a:t>
            </a:r>
            <a:endParaRPr lang="ca-ES" sz="2000" dirty="0"/>
          </a:p>
          <a:p>
            <a:pPr marL="310896" lvl="2" indent="0">
              <a:buNone/>
            </a:pPr>
            <a:endParaRPr lang="ca-ES" sz="2000" b="1" dirty="0"/>
          </a:p>
          <a:p>
            <a:pPr marL="310896" lvl="2" indent="0">
              <a:buNone/>
            </a:pPr>
            <a:r>
              <a:rPr lang="ca-ES" sz="2000" b="1" dirty="0"/>
              <a:t>Objectives: </a:t>
            </a:r>
          </a:p>
          <a:p>
            <a:pPr lvl="3"/>
            <a:r>
              <a:rPr lang="en-GB" sz="2000" dirty="0"/>
              <a:t>Provide lossless reconstruction of PCM audio signals at different sampling rates and word lengths</a:t>
            </a:r>
            <a:endParaRPr lang="en-GB" sz="2000" dirty="0">
              <a:solidFill>
                <a:schemeClr val="accent2">
                  <a:lumMod val="75000"/>
                </a:schemeClr>
              </a:solidFill>
            </a:endParaRPr>
          </a:p>
          <a:p>
            <a:pPr lvl="3"/>
            <a:r>
              <a:rPr lang="en-GB" sz="2000" dirty="0"/>
              <a:t>Achieve superior compression efficiency to other algorithms</a:t>
            </a:r>
          </a:p>
          <a:p>
            <a:pPr lvl="3"/>
            <a:r>
              <a:rPr lang="en-GB" sz="2000" dirty="0"/>
              <a:t>Provide means for editing, manipulation and random access to the compressed audio</a:t>
            </a:r>
          </a:p>
          <a:p>
            <a:pPr lvl="1"/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9356060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E9B80-78B4-4969-AB92-0359BB957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encoder</a:t>
            </a:r>
            <a:endParaRPr lang="ca-E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D6D6E1E-F2BD-4291-8480-666594A54D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4128" y="1711749"/>
            <a:ext cx="10143744" cy="4561036"/>
          </a:xfr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85305CA-06D9-4D08-A9D5-9BADCA8EFCD2}"/>
              </a:ext>
            </a:extLst>
          </p:cNvPr>
          <p:cNvSpPr/>
          <p:nvPr/>
        </p:nvSpPr>
        <p:spPr>
          <a:xfrm>
            <a:off x="2405792" y="2476670"/>
            <a:ext cx="1152939" cy="734695"/>
          </a:xfrm>
          <a:prstGeom prst="rect">
            <a:avLst/>
          </a:pr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402045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E9B80-78B4-4969-AB92-0359BB957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Parcor values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D6D6E1E-F2BD-4291-8480-666594A54D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054992" y="351778"/>
            <a:ext cx="3854311" cy="1733053"/>
          </a:xfr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85305CA-06D9-4D08-A9D5-9BADCA8EFCD2}"/>
              </a:ext>
            </a:extLst>
          </p:cNvPr>
          <p:cNvSpPr/>
          <p:nvPr/>
        </p:nvSpPr>
        <p:spPr>
          <a:xfrm>
            <a:off x="8554453" y="1378226"/>
            <a:ext cx="478452" cy="516835"/>
          </a:xfrm>
          <a:prstGeom prst="rect">
            <a:avLst/>
          </a:pr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80D7611-59B8-4D6F-8021-4840898BD047}"/>
              </a:ext>
            </a:extLst>
          </p:cNvPr>
          <p:cNvSpPr txBox="1">
            <a:spLocks/>
          </p:cNvSpPr>
          <p:nvPr/>
        </p:nvSpPr>
        <p:spPr>
          <a:xfrm>
            <a:off x="1024128" y="2286000"/>
            <a:ext cx="9720071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2"/>
              </a:buClr>
              <a:buSzPct val="100000"/>
              <a:buFont typeface="Tw Cen MT" panose="020B0602020104020603" pitchFamily="34" charset="0"/>
              <a:buChar char=" 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GB" sz="2400" dirty="0"/>
              <a:t>Apply</a:t>
            </a:r>
            <a:r>
              <a:rPr lang="ca-ES" sz="2400" dirty="0"/>
              <a:t> Hamming </a:t>
            </a:r>
            <a:r>
              <a:rPr lang="en-GB" sz="2400" dirty="0"/>
              <a:t>window to each frame</a:t>
            </a:r>
          </a:p>
          <a:p>
            <a:pPr lvl="1"/>
            <a:r>
              <a:rPr lang="en-GB" sz="2400" dirty="0">
                <a:sym typeface="Wingdings" panose="05000000000000000000" pitchFamily="2" charset="2"/>
              </a:rPr>
              <a:t>Calculate the autocorrelation order p</a:t>
            </a:r>
          </a:p>
          <a:p>
            <a:pPr lvl="1"/>
            <a:r>
              <a:rPr lang="en-GB" sz="2400" dirty="0">
                <a:sym typeface="Wingdings" panose="05000000000000000000" pitchFamily="2" charset="2"/>
              </a:rPr>
              <a:t>Levinson – Durbin algorithm to estimate </a:t>
            </a:r>
            <a:r>
              <a:rPr lang="en-GB" sz="2400" dirty="0">
                <a:solidFill>
                  <a:schemeClr val="accent2">
                    <a:lumMod val="75000"/>
                  </a:schemeClr>
                </a:solidFill>
                <a:sym typeface="Wingdings" panose="05000000000000000000" pitchFamily="2" charset="2"/>
              </a:rPr>
              <a:t>PARCOR VALUES </a:t>
            </a:r>
            <a:r>
              <a:rPr lang="en-GB" sz="2400" i="1" dirty="0">
                <a:solidFill>
                  <a:schemeClr val="accent2">
                    <a:lumMod val="75000"/>
                  </a:schemeClr>
                </a:solidFill>
                <a:sym typeface="Wingdings" panose="05000000000000000000" pitchFamily="2" charset="2"/>
              </a:rPr>
              <a:t>(k)</a:t>
            </a:r>
            <a:r>
              <a:rPr lang="en-GB" sz="2400" dirty="0">
                <a:solidFill>
                  <a:schemeClr val="accent2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GB" sz="2400" dirty="0">
                <a:sym typeface="Wingdings" panose="05000000000000000000" pitchFamily="2" charset="2"/>
              </a:rPr>
              <a:t>using windowed frame</a:t>
            </a:r>
          </a:p>
          <a:p>
            <a:pPr lvl="2"/>
            <a:r>
              <a:rPr lang="en-GB" sz="2000" dirty="0">
                <a:sym typeface="Wingdings" panose="05000000000000000000" pitchFamily="2" charset="2"/>
              </a:rPr>
              <a:t>Initialization</a:t>
            </a:r>
          </a:p>
          <a:p>
            <a:pPr marL="310896" lvl="2" indent="0">
              <a:buNone/>
            </a:pPr>
            <a:r>
              <a:rPr lang="en-GB" sz="2000" dirty="0">
                <a:sym typeface="Wingdings" panose="05000000000000000000" pitchFamily="2" charset="2"/>
              </a:rPr>
              <a:t>	R(0) = R(0)*257/256 </a:t>
            </a:r>
            <a:r>
              <a:rPr lang="ca-ES" sz="2000" dirty="0"/>
              <a:t>→</a:t>
            </a:r>
            <a:r>
              <a:rPr lang="en-GB" sz="2000" dirty="0">
                <a:sym typeface="Wingdings" panose="05000000000000000000" pitchFamily="2" charset="2"/>
              </a:rPr>
              <a:t> to stabilize the predicted values</a:t>
            </a:r>
          </a:p>
          <a:p>
            <a:pPr lvl="2"/>
            <a:r>
              <a:rPr lang="en-GB" sz="2000" dirty="0">
                <a:sym typeface="Wingdings" panose="05000000000000000000" pitchFamily="2" charset="2"/>
              </a:rPr>
              <a:t>Iterate</a:t>
            </a:r>
          </a:p>
          <a:p>
            <a:pPr marL="640080" lvl="4" indent="0">
              <a:buNone/>
            </a:pPr>
            <a:r>
              <a:rPr lang="en-GB" sz="1800" dirty="0">
                <a:sym typeface="Wingdings" panose="05000000000000000000" pitchFamily="2" charset="2"/>
              </a:rPr>
              <a:t>	</a:t>
            </a:r>
          </a:p>
          <a:p>
            <a:pPr lvl="2"/>
            <a:endParaRPr lang="en-GB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6395676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E9B80-78B4-4969-AB92-0359BB957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QUANTIFY + DEQUANTIFY</a:t>
            </a:r>
            <a:endParaRPr lang="ca-ES" dirty="0"/>
          </a:p>
        </p:txBody>
      </p:sp>
      <p:pic>
        <p:nvPicPr>
          <p:cNvPr id="8" name="Content Placeholder 6">
            <a:extLst>
              <a:ext uri="{FF2B5EF4-FFF2-40B4-BE49-F238E27FC236}">
                <a16:creationId xmlns:a16="http://schemas.microsoft.com/office/drawing/2014/main" id="{3F1D38FC-50D1-4ABA-8C78-329A25E0C7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4992" y="312022"/>
            <a:ext cx="3854311" cy="173305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DA04549-CFFD-4842-87AF-834F6871D6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1"/>
                <a:r>
                  <a:rPr lang="en-GB" sz="2400" dirty="0"/>
                  <a:t> Mapping using </a:t>
                </a:r>
                <a14:m>
                  <m:oMath xmlns:m="http://schemas.openxmlformats.org/officeDocument/2006/math">
                    <m:r>
                      <a:rPr lang="ca-ES" sz="2400" b="0" i="1" smtClean="0">
                        <a:latin typeface="Cambria Math" panose="02040503050406030204" pitchFamily="18" charset="0"/>
                      </a:rPr>
                      <m:t>⁡</m:t>
                    </m:r>
                    <m:r>
                      <a:rPr lang="ca-ES" sz="2400" b="0" i="1" smtClean="0">
                        <a:latin typeface="Cambria Math" panose="02040503050406030204" pitchFamily="18" charset="0"/>
                      </a:rPr>
                      <m:t>𝑎𝑟𝑐𝑠𝑖𝑛</m:t>
                    </m:r>
                    <m:r>
                      <a:rPr lang="ca-E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ca-ES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ca-E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ca-ES" sz="2400" dirty="0"/>
                  <a:t> → </a:t>
                </a:r>
                <a:r>
                  <a:rPr lang="en-GB" sz="2400" dirty="0"/>
                  <a:t>allows us to use uniform quantization</a:t>
                </a:r>
              </a:p>
              <a:p>
                <a:pPr lvl="2"/>
                <a:r>
                  <a:rPr lang="en-GB" sz="2000" dirty="0"/>
                  <a:t>Range </a:t>
                </a:r>
                <a:r>
                  <a:rPr lang="ca-ES" sz="2000" dirty="0"/>
                  <a:t>→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ca-ES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lin"/>
                            <m:ctrlPr>
                              <a:rPr lang="ca-E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ca-E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ca-E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f>
                          <m:fPr>
                            <m:type m:val="lin"/>
                            <m:ctrlPr>
                              <a:rPr lang="ca-ES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ca-E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ca-ES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endParaRPr lang="en-GB" sz="2000" dirty="0"/>
              </a:p>
              <a:p>
                <a:pPr lvl="1"/>
                <a:r>
                  <a:rPr lang="en-GB" sz="2400" dirty="0"/>
                  <a:t> Uniform quantifier</a:t>
                </a:r>
              </a:p>
              <a:p>
                <a:pPr lvl="2"/>
                <a:r>
                  <a:rPr lang="ca-ES" sz="2000" dirty="0"/>
                  <a:t>MID-RISER 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ca-ES" sz="200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ca-ES" sz="2000" i="1">
                        <a:latin typeface="Cambria Math" panose="02040503050406030204" pitchFamily="18" charset="0"/>
                      </a:rPr>
                      <m:t>=7</m:t>
                    </m:r>
                  </m:oMath>
                </a14:m>
                <a:endParaRPr lang="en-GB" sz="2000" dirty="0"/>
              </a:p>
              <a:p>
                <a:pPr lvl="1"/>
                <a:r>
                  <a:rPr lang="en-GB" sz="2400" dirty="0"/>
                  <a:t> Send to the multiplexer </a:t>
                </a:r>
                <a:r>
                  <a:rPr lang="ca-ES" sz="2400" dirty="0"/>
                  <a:t>→</a:t>
                </a:r>
                <a:r>
                  <a:rPr lang="en-GB" sz="2400" dirty="0"/>
                  <a:t> fixed-length coding using </a:t>
                </a:r>
                <a14:m>
                  <m:oMath xmlns:m="http://schemas.openxmlformats.org/officeDocument/2006/math">
                    <m:r>
                      <a:rPr lang="ca-ES" sz="24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sz="2400" dirty="0"/>
                  <a:t> bits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DA04549-CFFD-4842-87AF-834F6871D6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t="-227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879AA0F0-0976-4641-9CEE-F318896BAB32}"/>
              </a:ext>
            </a:extLst>
          </p:cNvPr>
          <p:cNvSpPr/>
          <p:nvPr/>
        </p:nvSpPr>
        <p:spPr>
          <a:xfrm>
            <a:off x="9015140" y="1404731"/>
            <a:ext cx="1359569" cy="490330"/>
          </a:xfrm>
          <a:prstGeom prst="rect">
            <a:avLst/>
          </a:pr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4972193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198841-4CC7-482F-AB3D-233D9497D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Parcor to </a:t>
            </a:r>
            <a:r>
              <a:rPr lang="en-GB" dirty="0" err="1"/>
              <a:t>lpc</a:t>
            </a:r>
            <a:r>
              <a:rPr lang="en-GB" dirty="0"/>
              <a:t> + predictor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554C32-E509-409B-B4A7-BD245A70922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2286000"/>
                <a:ext cx="10598377" cy="4023360"/>
              </a:xfrm>
            </p:spPr>
            <p:txBody>
              <a:bodyPr>
                <a:normAutofit/>
              </a:bodyPr>
              <a:lstStyle/>
              <a:p>
                <a:pPr lvl="1"/>
                <a:r>
                  <a:rPr lang="en-GB" sz="2800" dirty="0"/>
                  <a:t> To get </a:t>
                </a:r>
                <a:r>
                  <a:rPr lang="en-GB" sz="2800" dirty="0">
                    <a:solidFill>
                      <a:schemeClr val="accent2">
                        <a:lumMod val="75000"/>
                      </a:schemeClr>
                    </a:solidFill>
                  </a:rPr>
                  <a:t>LPC coefficients </a:t>
                </a:r>
                <a:r>
                  <a:rPr lang="en-GB" sz="28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ca-E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ca-ES" sz="28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ca-ES" sz="28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GB" sz="2800" dirty="0"/>
                  <a:t>)</a:t>
                </a:r>
                <a:r>
                  <a:rPr lang="en-GB" sz="2800" dirty="0">
                    <a:solidFill>
                      <a:schemeClr val="accent2">
                        <a:lumMod val="75000"/>
                      </a:schemeClr>
                    </a:solidFill>
                  </a:rPr>
                  <a:t> </a:t>
                </a:r>
                <a:r>
                  <a:rPr lang="en-GB" dirty="0"/>
                  <a:t>→ </a:t>
                </a:r>
                <a:r>
                  <a:rPr lang="en-GB" sz="2800" dirty="0"/>
                  <a:t>Repeat Levinson – Durbin algorithm</a:t>
                </a:r>
              </a:p>
              <a:p>
                <a:pPr lvl="1"/>
                <a:r>
                  <a:rPr lang="en-GB" sz="2800" dirty="0"/>
                  <a:t> </a:t>
                </a:r>
                <a:r>
                  <a:rPr lang="en-GB" sz="2800" dirty="0">
                    <a:solidFill>
                      <a:schemeClr val="accent2">
                        <a:lumMod val="75000"/>
                      </a:schemeClr>
                    </a:solidFill>
                  </a:rPr>
                  <a:t>Predictor</a:t>
                </a:r>
                <a:r>
                  <a:rPr lang="ca-ES" sz="2800" dirty="0"/>
                  <a:t> → </a:t>
                </a:r>
                <a:r>
                  <a:rPr lang="en-GB" sz="2800" dirty="0"/>
                  <a:t>Filters frame using coefficients:</a:t>
                </a:r>
              </a:p>
              <a:p>
                <a:pPr marL="128016" lvl="1" indent="0">
                  <a:buNone/>
                </a:pPr>
                <a:r>
                  <a:rPr lang="en-GB" sz="2800" dirty="0"/>
                  <a:t> </a:t>
                </a:r>
              </a:p>
              <a:p>
                <a:pPr marL="128016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ca-E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ca-ES" sz="28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ca-ES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ca-ES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28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⌊"/>
                          <m:endChr m:val="⌋"/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ca-E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n-GB" sz="2800" dirty="0">
                  <a:solidFill>
                    <a:schemeClr val="accent2">
                      <a:lumMod val="75000"/>
                    </a:schemeClr>
                  </a:solidFill>
                </a:endParaRPr>
              </a:p>
              <a:p>
                <a:pPr lvl="1"/>
                <a:r>
                  <a:rPr lang="en-GB" sz="2800" dirty="0"/>
                  <a:t> </a:t>
                </a:r>
                <a:r>
                  <a:rPr lang="en-GB" sz="2800" dirty="0">
                    <a:solidFill>
                      <a:schemeClr val="accent2">
                        <a:lumMod val="75000"/>
                      </a:schemeClr>
                    </a:solidFill>
                  </a:rPr>
                  <a:t>Residual </a:t>
                </a:r>
                <a:endParaRPr lang="en-GB" dirty="0"/>
              </a:p>
              <a:p>
                <a:pPr marL="128016" lvl="1" indent="0">
                  <a:buNone/>
                </a:pPr>
                <a:endParaRPr lang="en-GB" dirty="0"/>
              </a:p>
              <a:p>
                <a:pPr marL="128016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ca-ES" sz="2800" i="1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ca-ES" sz="2800" b="0" i="1" smtClean="0">
                          <a:latin typeface="Cambria Math" panose="02040503050406030204" pitchFamily="18" charset="0"/>
                        </a:rPr>
                        <m:t>𝑒𝑠𝑖𝑑𝑢𝑎</m:t>
                      </m:r>
                      <m:sSub>
                        <m:sSubPr>
                          <m:ctrlPr>
                            <a:rPr lang="ca-E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2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ca-E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ca-E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ca-E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ca-ES" sz="28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ca-ES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ca-ES" sz="2800" b="0" dirty="0"/>
              </a:p>
              <a:p>
                <a:pPr marL="128016" lvl="1" indent="0">
                  <a:buNone/>
                </a:pPr>
                <a:endParaRPr lang="ca-ES" sz="2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554C32-E509-409B-B4A7-BD245A7092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2286000"/>
                <a:ext cx="10598377" cy="4023360"/>
              </a:xfrm>
              <a:blipFill>
                <a:blip r:embed="rId2"/>
                <a:stretch>
                  <a:fillRect l="-288" t="-257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6">
            <a:extLst>
              <a:ext uri="{FF2B5EF4-FFF2-40B4-BE49-F238E27FC236}">
                <a16:creationId xmlns:a16="http://schemas.microsoft.com/office/drawing/2014/main" id="{0225C262-0708-47BE-9AB0-0400CED7F1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4992" y="351778"/>
            <a:ext cx="3854311" cy="173305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F50461C-7FE5-44C4-9180-5E7A35AA1E64}"/>
              </a:ext>
            </a:extLst>
          </p:cNvPr>
          <p:cNvSpPr/>
          <p:nvPr/>
        </p:nvSpPr>
        <p:spPr>
          <a:xfrm>
            <a:off x="9107905" y="585215"/>
            <a:ext cx="1359569" cy="978890"/>
          </a:xfrm>
          <a:prstGeom prst="rect">
            <a:avLst/>
          </a:pr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7786881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C2320-4D4C-4F4E-880E-58143BC90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Golomb-rice coder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6E33C7-CFFC-4ACD-AF18-2D2D7D905C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3412" y="2318269"/>
                <a:ext cx="11255891" cy="4023360"/>
              </a:xfrm>
            </p:spPr>
            <p:txBody>
              <a:bodyPr>
                <a:normAutofit/>
              </a:bodyPr>
              <a:lstStyle/>
              <a:p>
                <a:pPr lvl="1"/>
                <a:r>
                  <a:rPr lang="en-GB" sz="2400" dirty="0"/>
                  <a:t> </a:t>
                </a:r>
                <a:r>
                  <a:rPr lang="en-GB" sz="2000" dirty="0">
                    <a:solidFill>
                      <a:schemeClr val="accent2">
                        <a:lumMod val="75000"/>
                      </a:schemeClr>
                    </a:solidFill>
                  </a:rPr>
                  <a:t>Residual </a:t>
                </a:r>
                <a:r>
                  <a:rPr lang="en-GB" sz="2000" dirty="0"/>
                  <a:t>distribution ~ Laplacian Distribution (Two-sided geometric) </a:t>
                </a:r>
                <a:r>
                  <a:rPr lang="en-GB" sz="2000" dirty="0">
                    <a:solidFill>
                      <a:schemeClr val="accent2">
                        <a:lumMod val="75000"/>
                      </a:schemeClr>
                    </a:solidFill>
                  </a:rPr>
                  <a:t> </a:t>
                </a:r>
              </a:p>
              <a:p>
                <a:pPr lvl="1"/>
                <a:r>
                  <a:rPr lang="en-GB" sz="2000" dirty="0"/>
                  <a:t> Find distribution’s mean (</a:t>
                </a:r>
                <a14:m>
                  <m:oMath xmlns:m="http://schemas.openxmlformats.org/officeDocument/2006/math">
                    <m:r>
                      <a:rPr lang="ca-E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GB" sz="2000" dirty="0"/>
                  <a:t>) → quantify with less bits values near </a:t>
                </a:r>
                <a14:m>
                  <m:oMath xmlns:m="http://schemas.openxmlformats.org/officeDocument/2006/math">
                    <m:r>
                      <a:rPr lang="ca-E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GB" sz="2000" dirty="0"/>
                  <a:t> as it’s more probable </a:t>
                </a:r>
              </a:p>
              <a:p>
                <a:pPr lvl="1"/>
                <a:r>
                  <a:rPr lang="en-GB" sz="2000" dirty="0"/>
                  <a:t> Calculate </a:t>
                </a:r>
                <a:r>
                  <a:rPr lang="en-GB" sz="2000" dirty="0">
                    <a:solidFill>
                      <a:schemeClr val="accent2">
                        <a:lumMod val="75000"/>
                      </a:schemeClr>
                    </a:solidFill>
                  </a:rPr>
                  <a:t>m</a:t>
                </a:r>
                <a:r>
                  <a:rPr lang="en-GB" sz="2000" dirty="0"/>
                  <a:t> parameter</a:t>
                </a:r>
              </a:p>
              <a:p>
                <a:pPr marL="128016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ca-ES" sz="20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ca-ES" sz="2000" b="0" i="1" smtClean="0">
                          <a:latin typeface="Cambria Math" panose="02040503050406030204" pitchFamily="18" charset="0"/>
                        </a:rPr>
                        <m:t>= </m:t>
                      </m:r>
                      <m:sSup>
                        <m:sSupPr>
                          <m:ctrlPr>
                            <a:rPr lang="ca-E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ca-E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ca-E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</m:oMath>
                  </m:oMathPara>
                </a14:m>
                <a:endParaRPr lang="ca-ES" sz="2000" b="0" dirty="0"/>
              </a:p>
              <a:p>
                <a:pPr marL="128016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ca-ES" sz="20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ca-ES" sz="2000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⌊"/>
                          <m:endChr m:val="⌋"/>
                          <m:ctrlPr>
                            <a:rPr lang="ca-E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ca-E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ca-E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ca-ES" sz="2000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ca-ES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ca-E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func>
                          <m:r>
                            <a:rPr lang="ca-ES" sz="2000" b="0" i="1" smtClean="0">
                              <a:latin typeface="Cambria Math" panose="02040503050406030204" pitchFamily="18" charset="0"/>
                            </a:rPr>
                            <m:t>+0.97</m:t>
                          </m:r>
                        </m:e>
                      </m:d>
                    </m:oMath>
                  </m:oMathPara>
                </a14:m>
                <a:endParaRPr lang="ca-ES" sz="2000" b="0" dirty="0"/>
              </a:p>
              <a:p>
                <a:pPr lvl="1"/>
                <a:r>
                  <a:rPr lang="en-GB" sz="2000" dirty="0"/>
                  <a:t> As it’s two-sided geometric → flip negative side and merge it with the positive one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ca-E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ca-ES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  <m:sup>
                        <m:r>
                          <a:rPr lang="ca-ES" sz="1600" i="1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ca-ES" sz="16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ca-E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ca-ES" sz="16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sSub>
                              <m:sSubPr>
                                <m:ctrlPr>
                                  <a:rPr lang="ca-E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,             </m:t>
                            </m:r>
                            <m:sSub>
                              <m:sSubPr>
                                <m:ctrlPr>
                                  <a:rPr lang="ca-E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&lt;0</m:t>
                            </m:r>
                          </m:e>
                          <m:e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&amp;−2</m:t>
                            </m:r>
                            <m:sSub>
                              <m:sSubPr>
                                <m:ctrlPr>
                                  <a:rPr lang="ca-E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−1,  </m:t>
                            </m:r>
                            <m:sSub>
                              <m:sSubPr>
                                <m:ctrlPr>
                                  <a:rPr lang="ca-E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≥0</m:t>
                            </m:r>
                          </m:e>
                        </m:eqArr>
                      </m:e>
                    </m:d>
                  </m:oMath>
                </a14:m>
                <a:endParaRPr lang="en-GB" sz="2000" dirty="0"/>
              </a:p>
              <a:p>
                <a:pPr lvl="1"/>
                <a:r>
                  <a:rPr lang="en-GB" sz="2000" b="0" dirty="0"/>
                  <a:t> Calculate quotient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sz="2000" b="0" i="0" smtClean="0">
                        <a:latin typeface="Cambria Math" panose="02040503050406030204" pitchFamily="18" charset="0"/>
                      </a:rPr>
                      <m:t>q</m:t>
                    </m:r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⌊"/>
                        <m:endChr m:val="⌋"/>
                        <m:ctrlPr>
                          <a:rPr lang="en-GB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type m:val="skw"/>
                            <m:ctrlPr>
                              <a:rPr lang="en-GB" sz="20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000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GB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num>
                          <m:den>
                            <m:r>
                              <a:rPr lang="en-GB" sz="20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d>
                  </m:oMath>
                </a14:m>
                <a:r>
                  <a:rPr lang="en-GB" sz="2000" dirty="0"/>
                  <a:t> and remainder </a:t>
                </a:r>
                <a14:m>
                  <m:oMath xmlns:m="http://schemas.openxmlformats.org/officeDocument/2006/math"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𝑟𝑒𝑚</m:t>
                    </m:r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GB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GB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GB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endParaRPr lang="en-GB" sz="2000" dirty="0"/>
              </a:p>
              <a:p>
                <a:pPr lvl="1"/>
                <a:r>
                  <a:rPr lang="en-GB" sz="2000" dirty="0"/>
                  <a:t> Generate codeword :  </a:t>
                </a:r>
                <a:r>
                  <a:rPr lang="en-GB" sz="2000" dirty="0">
                    <a:solidFill>
                      <a:schemeClr val="accent2">
                        <a:lumMod val="75000"/>
                      </a:schemeClr>
                    </a:solidFill>
                  </a:rPr>
                  <a:t>rem q rem q rem q rem q…</a:t>
                </a:r>
              </a:p>
              <a:p>
                <a:pPr lvl="3"/>
                <a:r>
                  <a:rPr lang="en-GB" sz="1800" dirty="0"/>
                  <a:t>Quotient code → Unary Coding: Write q-length string of 1 bit, write 0 bit. </a:t>
                </a:r>
              </a:p>
              <a:p>
                <a:pPr lvl="3"/>
                <a:r>
                  <a:rPr lang="en-GB" sz="1800" dirty="0"/>
                  <a:t>Remainder code → Binary encoding using b bits </a:t>
                </a:r>
                <a14:m>
                  <m:oMath xmlns:m="http://schemas.openxmlformats.org/officeDocument/2006/math">
                    <m:r>
                      <a:rPr lang="ca-ES" sz="18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ca-ES" sz="1800" b="0" i="1" smtClean="0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⌈"/>
                        <m:endChr m:val="⌉"/>
                        <m:ctrlPr>
                          <a:rPr lang="ca-E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ca-ES" sz="18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ca-ES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ca-ES" sz="1800" b="0" i="0" smtClean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ca-ES" sz="1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ca-ES" sz="18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ca-ES" sz="18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func>
                      </m:e>
                    </m:d>
                  </m:oMath>
                </a14:m>
                <a:endParaRPr lang="en-GB" sz="1600" dirty="0"/>
              </a:p>
              <a:p>
                <a:pPr lvl="1"/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6E33C7-CFFC-4ACD-AF18-2D2D7D905C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3412" y="2318269"/>
                <a:ext cx="11255891" cy="4023360"/>
              </a:xfrm>
              <a:blipFill>
                <a:blip r:embed="rId2"/>
                <a:stretch>
                  <a:fillRect t="-181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6">
            <a:extLst>
              <a:ext uri="{FF2B5EF4-FFF2-40B4-BE49-F238E27FC236}">
                <a16:creationId xmlns:a16="http://schemas.microsoft.com/office/drawing/2014/main" id="{BD4E8EA6-9CD9-4E27-8466-A21A7A5966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4992" y="272265"/>
            <a:ext cx="3854311" cy="173305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1C3C2E9-8C83-4B47-B430-F2AA68F07FEB}"/>
              </a:ext>
            </a:extLst>
          </p:cNvPr>
          <p:cNvSpPr/>
          <p:nvPr/>
        </p:nvSpPr>
        <p:spPr>
          <a:xfrm>
            <a:off x="10503568" y="476616"/>
            <a:ext cx="664304" cy="650692"/>
          </a:xfrm>
          <a:prstGeom prst="rect">
            <a:avLst/>
          </a:pr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017230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B19612-84BC-4B30-8328-1E6BCBC96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decoder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7588CDF-B412-438B-B02E-264704A34F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98301" y="1696453"/>
            <a:ext cx="10171725" cy="4366279"/>
          </a:xfrm>
        </p:spPr>
      </p:pic>
    </p:spTree>
    <p:extLst>
      <p:ext uri="{BB962C8B-B14F-4D97-AF65-F5344CB8AC3E}">
        <p14:creationId xmlns:p14="http://schemas.microsoft.com/office/powerpoint/2010/main" val="4343095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63845-C16E-450C-AE50-D535830C1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GOLOMB-RICE DECODER</a:t>
            </a:r>
          </a:p>
        </p:txBody>
      </p:sp>
      <p:pic>
        <p:nvPicPr>
          <p:cNvPr id="4" name="Content Placeholder 6">
            <a:extLst>
              <a:ext uri="{FF2B5EF4-FFF2-40B4-BE49-F238E27FC236}">
                <a16:creationId xmlns:a16="http://schemas.microsoft.com/office/drawing/2014/main" id="{E196837F-04CC-4507-9C5B-F448640F20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4992" y="232033"/>
            <a:ext cx="3854311" cy="165448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F9BD0FF-FF06-419F-A129-9AD80E83CBDF}"/>
              </a:ext>
            </a:extLst>
          </p:cNvPr>
          <p:cNvSpPr/>
          <p:nvPr/>
        </p:nvSpPr>
        <p:spPr>
          <a:xfrm>
            <a:off x="8966316" y="548640"/>
            <a:ext cx="664304" cy="710317"/>
          </a:xfrm>
          <a:prstGeom prst="rect">
            <a:avLst/>
          </a:pr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34D22F2E-B3E5-4FDF-82FC-99E31FBEFC0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2286000"/>
                <a:ext cx="10598377" cy="4023360"/>
              </a:xfrm>
            </p:spPr>
            <p:txBody>
              <a:bodyPr>
                <a:normAutofit/>
              </a:bodyPr>
              <a:lstStyle/>
              <a:p>
                <a:pPr lvl="1"/>
                <a:r>
                  <a:rPr lang="en-GB" sz="2800" dirty="0"/>
                  <a:t> Get </a:t>
                </a:r>
                <a:r>
                  <a:rPr lang="en-GB" sz="2800" i="1" dirty="0">
                    <a:solidFill>
                      <a:schemeClr val="accent2">
                        <a:lumMod val="75000"/>
                      </a:schemeClr>
                    </a:solidFill>
                  </a:rPr>
                  <a:t>m</a:t>
                </a:r>
                <a:r>
                  <a:rPr lang="en-GB" sz="2800" dirty="0"/>
                  <a:t> as side information</a:t>
                </a:r>
              </a:p>
              <a:p>
                <a:pPr lvl="1"/>
                <a:r>
                  <a:rPr lang="en-GB" sz="2800" dirty="0"/>
                  <a:t> Splits codeword getting </a:t>
                </a:r>
                <a:r>
                  <a:rPr lang="en-GB" sz="2800" i="1" dirty="0">
                    <a:solidFill>
                      <a:schemeClr val="accent2">
                        <a:lumMod val="75000"/>
                      </a:schemeClr>
                    </a:solidFill>
                  </a:rPr>
                  <a:t>q</a:t>
                </a:r>
                <a:r>
                  <a:rPr lang="en-GB" sz="2800" dirty="0"/>
                  <a:t> and</a:t>
                </a:r>
                <a:r>
                  <a:rPr lang="en-GB" sz="2800" i="1" dirty="0"/>
                  <a:t> </a:t>
                </a:r>
                <a:r>
                  <a:rPr lang="en-GB" sz="2800" i="1" dirty="0">
                    <a:solidFill>
                      <a:schemeClr val="accent2">
                        <a:lumMod val="75000"/>
                      </a:schemeClr>
                    </a:solidFill>
                  </a:rPr>
                  <a:t>rem</a:t>
                </a:r>
                <a:r>
                  <a:rPr lang="en-GB" sz="2800" i="1" dirty="0"/>
                  <a:t>.</a:t>
                </a:r>
              </a:p>
              <a:p>
                <a:pPr lvl="2"/>
                <a:r>
                  <a:rPr lang="en-GB" sz="2400" dirty="0"/>
                  <a:t>As we know </a:t>
                </a:r>
                <a:r>
                  <a:rPr lang="en-GB" sz="2400" i="1" dirty="0">
                    <a:solidFill>
                      <a:schemeClr val="accent2">
                        <a:lumMod val="75000"/>
                      </a:schemeClr>
                    </a:solidFill>
                  </a:rPr>
                  <a:t>m</a:t>
                </a:r>
                <a:r>
                  <a:rPr lang="en-GB" sz="2400" dirty="0"/>
                  <a:t> we know how many bits </a:t>
                </a:r>
                <a:r>
                  <a:rPr lang="en-GB" sz="2400" i="1" dirty="0">
                    <a:solidFill>
                      <a:schemeClr val="accent2">
                        <a:lumMod val="75000"/>
                      </a:schemeClr>
                    </a:solidFill>
                  </a:rPr>
                  <a:t>rem</a:t>
                </a:r>
                <a:r>
                  <a:rPr lang="en-GB" sz="2400" dirty="0"/>
                  <a:t> has.</a:t>
                </a:r>
              </a:p>
              <a:p>
                <a:pPr lvl="2"/>
                <a:r>
                  <a:rPr lang="en-GB" sz="2400" dirty="0"/>
                  <a:t>We get </a:t>
                </a:r>
                <a:r>
                  <a:rPr lang="en-GB" sz="2400" i="1" dirty="0">
                    <a:solidFill>
                      <a:schemeClr val="accent2">
                        <a:lumMod val="75000"/>
                      </a:schemeClr>
                    </a:solidFill>
                  </a:rPr>
                  <a:t>q</a:t>
                </a:r>
                <a:r>
                  <a:rPr lang="en-GB" sz="2400" dirty="0"/>
                  <a:t> counting 1 until we find a 0.  </a:t>
                </a:r>
              </a:p>
              <a:p>
                <a:pPr lvl="1"/>
                <a:r>
                  <a:rPr lang="en-GB" sz="2800" i="1" dirty="0"/>
                  <a:t> </a:t>
                </a:r>
                <a:r>
                  <a:rPr lang="en-GB" sz="2800" dirty="0"/>
                  <a:t>Calculate residual → </a:t>
                </a:r>
                <a14:m>
                  <m:oMath xmlns:m="http://schemas.openxmlformats.org/officeDocument/2006/math"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𝑟𝑒𝑠</m:t>
                    </m:r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𝑟𝑒𝑚</m:t>
                    </m:r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 ∙</m:t>
                    </m:r>
                    <m:r>
                      <a:rPr lang="ca-E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endParaRPr lang="ca-ES" sz="2000" b="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en-GB" sz="2800" dirty="0"/>
                  <a:t> Split negative and positive values. </a:t>
                </a:r>
              </a:p>
              <a:p>
                <a:pPr lvl="1"/>
                <a:endParaRPr lang="ca-ES" sz="2800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34D22F2E-B3E5-4FDF-82FC-99E31FBEFC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2286000"/>
                <a:ext cx="10598377" cy="4023360"/>
              </a:xfrm>
              <a:blipFill>
                <a:blip r:embed="rId3"/>
                <a:stretch>
                  <a:fillRect l="-288" t="-257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009306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8864A-4002-4E24-A186-2EBA4AA121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Predictor</a:t>
            </a:r>
          </a:p>
        </p:txBody>
      </p:sp>
      <p:pic>
        <p:nvPicPr>
          <p:cNvPr id="4" name="Content Placeholder 6">
            <a:extLst>
              <a:ext uri="{FF2B5EF4-FFF2-40B4-BE49-F238E27FC236}">
                <a16:creationId xmlns:a16="http://schemas.microsoft.com/office/drawing/2014/main" id="{18A5E99D-37A2-470B-9145-B8CBF29CB8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4992" y="271790"/>
            <a:ext cx="3854311" cy="165448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FAEDA04-500D-4ABF-91FD-06931A50CCAA}"/>
              </a:ext>
            </a:extLst>
          </p:cNvPr>
          <p:cNvSpPr/>
          <p:nvPr/>
        </p:nvSpPr>
        <p:spPr>
          <a:xfrm>
            <a:off x="9672642" y="548640"/>
            <a:ext cx="1976019" cy="710317"/>
          </a:xfrm>
          <a:prstGeom prst="rect">
            <a:avLst/>
          </a:pr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95338637-33D7-4F5E-AE9E-33C6E170C1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2286000"/>
                <a:ext cx="10598377" cy="4023360"/>
              </a:xfrm>
            </p:spPr>
            <p:txBody>
              <a:bodyPr>
                <a:normAutofit/>
              </a:bodyPr>
              <a:lstStyle/>
              <a:p>
                <a:pPr lvl="1"/>
                <a:r>
                  <a:rPr lang="en-GB" sz="2800" dirty="0"/>
                  <a:t> It does the same as the predictor in the coder but with the main difference that input values update for each iteration. </a:t>
                </a:r>
              </a:p>
              <a:p>
                <a:pPr lvl="1"/>
                <a:endParaRPr lang="en-GB" sz="2800" dirty="0"/>
              </a:p>
              <a:p>
                <a:pPr marL="128016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ca-E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ca-E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ca-ES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ca-E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ca-E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ca-ES" sz="2800" b="0" i="1" smtClean="0">
                          <a:latin typeface="Cambria Math" panose="02040503050406030204" pitchFamily="18" charset="0"/>
                        </a:rPr>
                        <m:t> −</m:t>
                      </m:r>
                      <m:d>
                        <m:dPr>
                          <m:begChr m:val="⌊"/>
                          <m:endChr m:val="⌋"/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ca-E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ca-ES" sz="2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ca-ES" sz="2800" dirty="0"/>
              </a:p>
              <a:p>
                <a:pPr marL="128016" lvl="1" indent="0">
                  <a:buNone/>
                </a:pPr>
                <a:r>
                  <a:rPr lang="ca-ES" sz="2800" dirty="0"/>
                  <a:t>As </a:t>
                </a:r>
                <a:r>
                  <a:rPr lang="ca-ES" sz="2800" dirty="0" err="1"/>
                  <a:t>it</a:t>
                </a:r>
                <a:r>
                  <a:rPr lang="ca-ES" sz="2800" dirty="0"/>
                  <a:t> is </a:t>
                </a:r>
                <a:r>
                  <a:rPr lang="ca-ES" sz="2800" dirty="0">
                    <a:solidFill>
                      <a:schemeClr val="accent2">
                        <a:lumMod val="75000"/>
                      </a:schemeClr>
                    </a:solidFill>
                  </a:rPr>
                  <a:t>LOSSELESS</a:t>
                </a:r>
                <a:r>
                  <a:rPr lang="ca-ES" sz="2800" dirty="0"/>
                  <a:t>: </a:t>
                </a:r>
              </a:p>
              <a:p>
                <a:pPr marL="128016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ca-E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ca-ES" sz="28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ca-ES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ca-E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ca-E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ca-ES" sz="2800" b="0" dirty="0"/>
              </a:p>
              <a:p>
                <a:pPr marL="128016" lvl="1" indent="0">
                  <a:buNone/>
                </a:pPr>
                <a:endParaRPr lang="ca-ES" sz="2800" b="0" dirty="0"/>
              </a:p>
              <a:p>
                <a:pPr marL="128016" lvl="1" indent="0">
                  <a:buNone/>
                </a:pPr>
                <a:endParaRPr lang="ca-ES" sz="2800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95338637-33D7-4F5E-AE9E-33C6E170C1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2286000"/>
                <a:ext cx="10598377" cy="4023360"/>
              </a:xfrm>
              <a:blipFill>
                <a:blip r:embed="rId3"/>
                <a:stretch>
                  <a:fillRect l="-403" t="-257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57730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715D8-12C8-4C95-A92A-3B0D4A376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7EB2189D-2E06-4B59-838A-98A8034FB9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/>
          <a:stretch>
            <a:fillRect/>
          </a:stretch>
        </p:blipFill>
        <p:spPr>
          <a:xfrm>
            <a:off x="1024128" y="1718277"/>
            <a:ext cx="7796908" cy="4554507"/>
          </a:xfrm>
          <a:prstGeom prst="rect">
            <a:avLst/>
          </a:prstGeom>
        </p:spPr>
      </p:pic>
      <p:pic>
        <p:nvPicPr>
          <p:cNvPr id="12" name="Sunshine_1">
            <a:hlinkClick r:id="" action="ppaction://media"/>
            <a:extLst>
              <a:ext uri="{FF2B5EF4-FFF2-40B4-BE49-F238E27FC236}">
                <a16:creationId xmlns:a16="http://schemas.microsoft.com/office/drawing/2014/main" id="{BCE6E012-D9B2-4B83-A816-4924E05197B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10134600" y="2246708"/>
            <a:ext cx="609600" cy="609600"/>
          </a:xfrm>
          <a:prstGeom prst="rect">
            <a:avLst/>
          </a:prstGeom>
        </p:spPr>
      </p:pic>
      <p:pic>
        <p:nvPicPr>
          <p:cNvPr id="13" name="Dec_Sunshine_1">
            <a:hlinkClick r:id="" action="ppaction://media"/>
            <a:extLst>
              <a:ext uri="{FF2B5EF4-FFF2-40B4-BE49-F238E27FC236}">
                <a16:creationId xmlns:a16="http://schemas.microsoft.com/office/drawing/2014/main" id="{F0021A22-4A53-4473-A84A-532AC783BB7C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10134600" y="3627784"/>
            <a:ext cx="609600" cy="609600"/>
          </a:xfrm>
          <a:prstGeom prst="rect">
            <a:avLst/>
          </a:prstGeom>
        </p:spPr>
      </p:pic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E8454749-71F7-4AE4-A6F5-97D48C799012}"/>
              </a:ext>
            </a:extLst>
          </p:cNvPr>
          <p:cNvSpPr txBox="1">
            <a:spLocks/>
          </p:cNvSpPr>
          <p:nvPr/>
        </p:nvSpPr>
        <p:spPr>
          <a:xfrm>
            <a:off x="8441635" y="708991"/>
            <a:ext cx="3259112" cy="1225826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2"/>
              </a:buClr>
              <a:buSzPct val="100000"/>
              <a:buFont typeface="Tw Cen MT" panose="020B0602020104020603" pitchFamily="34" charset="0"/>
              <a:buChar char=" 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8016" lvl="1" indent="0">
              <a:buNone/>
            </a:pPr>
            <a:r>
              <a:rPr lang="en-GB" dirty="0"/>
              <a:t>Fragment:</a:t>
            </a:r>
          </a:p>
          <a:p>
            <a:pPr marL="128016" lvl="1" indent="0" algn="r">
              <a:buNone/>
            </a:pPr>
            <a:r>
              <a:rPr lang="en-GB" sz="1600" dirty="0"/>
              <a:t>You Are The Sunshine Of My Life </a:t>
            </a:r>
          </a:p>
          <a:p>
            <a:pPr marL="128016" lvl="1" indent="0" algn="r">
              <a:buNone/>
            </a:pPr>
            <a:r>
              <a:rPr lang="en-GB" sz="1600" dirty="0"/>
              <a:t>Stevie Wonder</a:t>
            </a:r>
            <a:endParaRPr lang="ca-ES" dirty="0"/>
          </a:p>
          <a:p>
            <a:pPr marL="128016" lvl="1" indent="0">
              <a:buFont typeface="Wingdings 3" pitchFamily="18" charset="2"/>
              <a:buNone/>
            </a:pPr>
            <a:endParaRPr lang="ca-ES" sz="2800" dirty="0"/>
          </a:p>
        </p:txBody>
      </p:sp>
    </p:spTree>
    <p:extLst>
      <p:ext uri="{BB962C8B-B14F-4D97-AF65-F5344CB8AC3E}">
        <p14:creationId xmlns:p14="http://schemas.microsoft.com/office/powerpoint/2010/main" val="395292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0000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2"/>
                </p:tgtEl>
              </p:cMediaNode>
            </p:audio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3"/>
                </p:tgtEl>
              </p:cMediaNode>
            </p:audi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715D8-12C8-4C95-A92A-3B0D4A376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860B51A3-14A7-4AD7-88C7-2CBA107B6A9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84164" y="708991"/>
                <a:ext cx="5816583" cy="1133061"/>
              </a:xfrm>
            </p:spPr>
            <p:txBody>
              <a:bodyPr>
                <a:normAutofit/>
              </a:bodyPr>
              <a:lstStyle/>
              <a:p>
                <a:pPr lvl="1"/>
                <a:r>
                  <a:rPr lang="en-GB" sz="2400" dirty="0"/>
                  <a:t>Original audio: 44.1 kHz / 16-bit</a:t>
                </a:r>
              </a:p>
              <a:p>
                <a:pPr lvl="1"/>
                <a:r>
                  <a:rPr lang="en-GB" sz="2400" dirty="0"/>
                  <a:t>Compression ratio </a:t>
                </a:r>
                <a:r>
                  <a:rPr lang="en-GB" sz="2800" dirty="0"/>
                  <a:t>→ </a:t>
                </a:r>
                <a14:m>
                  <m:oMath xmlns:m="http://schemas.openxmlformats.org/officeDocument/2006/math"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ca-E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𝐶𝑜𝑚𝑝𝑟𝑒𝑠𝑠𝑒𝑑</m:t>
                        </m:r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𝐹𝑖𝑙𝑒</m:t>
                        </m:r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𝑆𝑖𝑧𝑒</m:t>
                        </m:r>
                      </m:num>
                      <m:den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𝑂𝑟𝑖𝑔𝑖𝑛𝑎𝑙</m:t>
                        </m:r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𝐹𝑖𝑙𝑒</m:t>
                        </m:r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𝑆𝑖𝑧𝑒</m:t>
                        </m:r>
                      </m:den>
                    </m:f>
                  </m:oMath>
                </a14:m>
                <a:endParaRPr lang="ca-ES" sz="2800" b="0" dirty="0"/>
              </a:p>
              <a:p>
                <a:pPr marL="128016" lvl="1" indent="0">
                  <a:buNone/>
                </a:pPr>
                <a:endParaRPr lang="ca-ES" sz="2800" b="0" dirty="0"/>
              </a:p>
              <a:p>
                <a:pPr marL="128016" lvl="1" indent="0">
                  <a:buNone/>
                </a:pPr>
                <a:endParaRPr lang="ca-ES" sz="28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860B51A3-14A7-4AD7-88C7-2CBA107B6A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84164" y="708991"/>
                <a:ext cx="5816583" cy="1133061"/>
              </a:xfrm>
              <a:blipFill>
                <a:blip r:embed="rId2"/>
                <a:stretch>
                  <a:fillRect t="-752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B0482D55-B2E7-4F9B-9235-A84044E57D1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36680789"/>
              </p:ext>
            </p:extLst>
          </p:nvPr>
        </p:nvGraphicFramePr>
        <p:xfrm>
          <a:off x="1024128" y="1965827"/>
          <a:ext cx="10143743" cy="44482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89309078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98000"/>
              </a:schemeClr>
              <a:schemeClr val="phClr">
                <a:shade val="89000"/>
                <a:satMod val="145000"/>
              </a:schemeClr>
            </a:duotone>
          </a:blip>
          <a:tile tx="0" ty="0" sx="32000" sy="32000" flip="none" algn="tl"/>
        </a:blipFill>
        <a:blipFill rotWithShape="1">
          <a:blip xmlns:r="http://schemas.openxmlformats.org/officeDocument/2006/relationships" r:embed="rId2">
            <a:duotone>
              <a:schemeClr val="phClr">
                <a:tint val="98000"/>
              </a:schemeClr>
              <a:schemeClr val="phClr">
                <a:shade val="95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090DCB5F-146D-478A-852A-34B16FE9F3A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531</TotalTime>
  <Words>472</Words>
  <Application>Microsoft Office PowerPoint</Application>
  <PresentationFormat>Widescreen</PresentationFormat>
  <Paragraphs>83</Paragraphs>
  <Slides>13</Slides>
  <Notes>0</Notes>
  <HiddenSlides>0</HiddenSlides>
  <MMClips>2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Cambria Math</vt:lpstr>
      <vt:lpstr>Tw Cen MT</vt:lpstr>
      <vt:lpstr>Tw Cen MT Condensed</vt:lpstr>
      <vt:lpstr>Wingdings</vt:lpstr>
      <vt:lpstr>Wingdings 3</vt:lpstr>
      <vt:lpstr>Integral</vt:lpstr>
      <vt:lpstr>MPEG 4-LosSless audio coding</vt:lpstr>
      <vt:lpstr>INDEX</vt:lpstr>
      <vt:lpstr>introduction</vt:lpstr>
      <vt:lpstr>encoder</vt:lpstr>
      <vt:lpstr>Parcor values</vt:lpstr>
      <vt:lpstr>QUANTIFY + DEQUANTIFY</vt:lpstr>
      <vt:lpstr>Parcor to lpc + predictor</vt:lpstr>
      <vt:lpstr>Golomb-rice coder</vt:lpstr>
      <vt:lpstr>decoder</vt:lpstr>
      <vt:lpstr>GOLOMB-RICE DECODER</vt:lpstr>
      <vt:lpstr>Predictor</vt:lpstr>
      <vt:lpstr>results</vt:lpstr>
      <vt:lpstr>results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MPEG 4-LosSeless audio coding</dc:title>
  <dc:creator>Maria Gibert</dc:creator>
  <cp:lastModifiedBy>Maria Gibert</cp:lastModifiedBy>
  <cp:revision>47</cp:revision>
  <dcterms:created xsi:type="dcterms:W3CDTF">2018-04-14T08:55:18Z</dcterms:created>
  <dcterms:modified xsi:type="dcterms:W3CDTF">2018-04-15T20:23:06Z</dcterms:modified>
</cp:coreProperties>
</file>